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411480"/>
            <a:ext cx="118872" cy="118872"/>
          </a:xfrm>
          <a:prstGeom prst="roundRect">
            <a:avLst/>
          </a:prstGeom>
          <a:solidFill>
            <a:srgbClr val="C6F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29184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lang="pl-PL" noProof="1">
                <a:solidFill>
                  <a:srgbClr val="9BC62F"/>
                </a:solidFill>
                <a:latin typeface="Consolas"/>
              </a:rPr>
              <a:t>Tab3.frame · 1440 × 900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914400"/>
            <a:ext cx="2743200" cy="384048"/>
          </a:xfrm>
          <a:prstGeom prst="roundRect">
            <a:avLst>
              <a:gd name="adj" fmla="val 6000"/>
            </a:avLst>
          </a:prstGeom>
          <a:solidFill>
            <a:srgbClr val="16181A"/>
          </a:solidFill>
          <a:ln w="9525">
            <a:solidFill>
              <a:srgbClr val="2A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 b="0" lang="pl-PL" noProof="1">
                <a:solidFill>
                  <a:srgbClr val="9BC62F"/>
                </a:solidFill>
                <a:latin typeface="Consolas"/>
              </a:rPr>
              <a:t>Projekt zaliczeniowy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914400"/>
            <a:ext cx="3383280" cy="384048"/>
          </a:xfrm>
          <a:prstGeom prst="roundRect">
            <a:avLst>
              <a:gd name="adj" fmla="val 6000"/>
            </a:avLst>
          </a:prstGeom>
          <a:solidFill>
            <a:srgbClr val="16181A"/>
          </a:solidFill>
          <a:ln w="9525">
            <a:solidFill>
              <a:srgbClr val="2A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914400"/>
            <a:ext cx="3383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 b="0" lang="pl-PL" noProof="1">
                <a:solidFill>
                  <a:srgbClr val="9BC62F"/>
                </a:solidFill>
                <a:latin typeface="Consolas"/>
              </a:rPr>
              <a:t>Laboratorium programowania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0" y="914400"/>
            <a:ext cx="2103120" cy="384048"/>
          </a:xfrm>
          <a:prstGeom prst="roundRect">
            <a:avLst>
              <a:gd name="adj" fmla="val 6000"/>
            </a:avLst>
          </a:prstGeom>
          <a:solidFill>
            <a:srgbClr val="16181A"/>
          </a:solidFill>
          <a:ln w="9525">
            <a:solidFill>
              <a:srgbClr val="2A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86600" y="914400"/>
            <a:ext cx="2103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 b="0" lang="pl-PL" noProof="1">
                <a:solidFill>
                  <a:srgbClr val="9BC62F"/>
                </a:solidFill>
                <a:latin typeface="Consolas"/>
              </a:rPr>
              <a:t>r.a. 2025/2026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91640"/>
            <a:ext cx="106070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4400" b="1" lang="pl-PL" noProof="1">
                <a:solidFill>
                  <a:srgbClr val="F3F5F0"/>
                </a:solidFill>
                <a:latin typeface="Segoe UI"/>
              </a:rPr>
              <a:t>Tab3 — </a:t>
            </a:r>
            <a:r>
              <a:rPr sz="4400" b="1" lang="pl-PL" noProof="1">
                <a:solidFill>
                  <a:srgbClr val="C6FF3D"/>
                </a:solidFill>
                <a:latin typeface="Segoe UI"/>
              </a:rPr>
              <a:t>„Opisz zdjęcie”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4400" b="1" lang="pl-PL" noProof="1">
                <a:solidFill>
                  <a:srgbClr val="F3F5F0"/>
                </a:solidFill>
                <a:latin typeface="Segoe UI"/>
              </a:rPr>
              <a:t>z wykorzystaniem Gemini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8328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 lang="pl-PL" noProof="1">
                <a:solidFill>
                  <a:srgbClr val="9AA09A"/>
                </a:solidFill>
                <a:latin typeface="Segoe UI"/>
              </a:rPr>
              <a:t>Jak działa zakładka, z jakich plików się składa, jaka jest idea — oraz co trzeba było naprawić, żeby całość rzeczywiście ruszyła.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526280"/>
            <a:ext cx="2606040" cy="384048"/>
          </a:xfrm>
          <a:prstGeom prst="roundRect">
            <a:avLst>
              <a:gd name="adj" fmla="val 6000"/>
            </a:avLst>
          </a:prstGeom>
          <a:solidFill>
            <a:srgbClr val="1F2418"/>
          </a:solidFill>
          <a:ln w="9525">
            <a:solidFill>
              <a:srgbClr val="2A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526280"/>
            <a:ext cx="2606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 b="0" lang="pl-PL" noProof="1">
                <a:solidFill>
                  <a:srgbClr val="C6FF3D"/>
                </a:solidFill>
                <a:latin typeface="Consolas"/>
              </a:rPr>
              <a:t>Vaadin · frontend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4526280"/>
            <a:ext cx="2606040" cy="384048"/>
          </a:xfrm>
          <a:prstGeom prst="roundRect">
            <a:avLst>
              <a:gd name="adj" fmla="val 6000"/>
            </a:avLst>
          </a:prstGeom>
          <a:solidFill>
            <a:srgbClr val="1F2418"/>
          </a:solidFill>
          <a:ln w="9525">
            <a:solidFill>
              <a:srgbClr val="2A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4526280"/>
            <a:ext cx="2606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 b="0" lang="pl-PL" noProof="1">
                <a:solidFill>
                  <a:srgbClr val="C6FF3D"/>
                </a:solidFill>
                <a:latin typeface="Consolas"/>
              </a:rPr>
              <a:t>Spring Boot · backend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526280"/>
            <a:ext cx="2606040" cy="384048"/>
          </a:xfrm>
          <a:prstGeom prst="roundRect">
            <a:avLst>
              <a:gd name="adj" fmla="val 6000"/>
            </a:avLst>
          </a:prstGeom>
          <a:solidFill>
            <a:srgbClr val="1F2418"/>
          </a:solidFill>
          <a:ln w="9525">
            <a:solidFill>
              <a:srgbClr val="2A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4526280"/>
            <a:ext cx="2606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 b="0" lang="pl-PL" noProof="1">
                <a:solidFill>
                  <a:srgbClr val="C6FF3D"/>
                </a:solidFill>
                <a:latin typeface="Consolas"/>
              </a:rPr>
              <a:t>Google Gemini 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4526280"/>
            <a:ext cx="2606040" cy="384048"/>
          </a:xfrm>
          <a:prstGeom prst="roundRect">
            <a:avLst>
              <a:gd name="adj" fmla="val 6000"/>
            </a:avLst>
          </a:prstGeom>
          <a:solidFill>
            <a:srgbClr val="1F2418"/>
          </a:solidFill>
          <a:ln w="9525">
            <a:solidFill>
              <a:srgbClr val="2A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40" y="4526280"/>
            <a:ext cx="2606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 b="0" lang="pl-PL" noProof="1">
                <a:solidFill>
                  <a:srgbClr val="C6FF3D"/>
                </a:solidFill>
                <a:latin typeface="Consolas"/>
              </a:rPr>
              <a:t>REST + WebClient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257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1" lang="pl-PL" noProof="1">
                <a:solidFill>
                  <a:srgbClr val="C6FF3D"/>
                </a:solidFill>
                <a:latin typeface="Segoe UI"/>
              </a:rPr>
              <a:t>Opracowała: </a:t>
            </a:r>
            <a:r>
              <a:rPr sz="2000" b="1" lang="pl-PL" noProof="1">
                <a:solidFill>
                  <a:srgbClr val="F3F5F0"/>
                </a:solidFill>
                <a:latin typeface="Segoe UI"/>
              </a:rPr>
              <a:t>Ewelina Kasprowicz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41908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lang="pl-PL" noProof="1">
                <a:solidFill>
                  <a:srgbClr val="9AA09A"/>
                </a:solidFill>
                <a:latin typeface="Consolas"/>
              </a:rPr>
              <a:t>Tab3 · opis zdjęcia przez Gemini   ·   </a:t>
            </a:r>
            <a:r>
              <a:rPr sz="1000" b="1" lang="pl-PL" noProof="1">
                <a:solidFill>
                  <a:srgbClr val="9BC62F"/>
                </a:solidFill>
                <a:latin typeface="Consolas"/>
              </a:rPr>
              <a:t>Opracowała: Ewelina Kasprowicz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411480"/>
            <a:ext cx="118872" cy="118872"/>
          </a:xfrm>
          <a:prstGeom prst="roundRect">
            <a:avLst/>
          </a:prstGeom>
          <a:solidFill>
            <a:srgbClr val="C6F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29184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lang="pl-PL" noProof="1">
                <a:solidFill>
                  <a:srgbClr val="9BC62F"/>
                </a:solidFill>
                <a:latin typeface="Consolas"/>
              </a:rPr>
              <a:t>idea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914400"/>
            <a:ext cx="73152" cy="566928"/>
          </a:xfrm>
          <a:prstGeom prst="rect">
            <a:avLst/>
          </a:prstGeom>
          <a:solidFill>
            <a:srgbClr val="C6F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841248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 lang="pl-PL" noProof="1">
                <a:solidFill>
                  <a:srgbClr val="F3F5F0"/>
                </a:solidFill>
                <a:latin typeface="Segoe UI"/>
              </a:rPr>
              <a:t>Idea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932688"/>
            <a:ext cx="2286000" cy="457200"/>
          </a:xfrm>
          <a:prstGeom prst="roundRect">
            <a:avLst>
              <a:gd name="adj" fmla="val 6000"/>
            </a:avLst>
          </a:prstGeom>
          <a:solidFill>
            <a:srgbClr val="16181A"/>
          </a:solidFill>
          <a:ln w="9525">
            <a:solidFill>
              <a:srgbClr val="2A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950976"/>
            <a:ext cx="2286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0" lang="pl-PL" noProof="1">
                <a:solidFill>
                  <a:srgbClr val="9AA09A"/>
                </a:solidFill>
                <a:latin typeface="Consolas"/>
              </a:rPr>
              <a:t>po co to jest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8308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800" b="0" lang="pl-PL" noProof="1">
                <a:solidFill>
                  <a:srgbClr val="F3F5F0"/>
                </a:solidFill>
                <a:latin typeface="Segoe UI"/>
              </a:rPr>
              <a:t>Zakładka </a:t>
            </a:r>
            <a:r>
              <a:rPr sz="1800" b="1" lang="pl-PL" noProof="1">
                <a:solidFill>
                  <a:srgbClr val="F3F5F0"/>
                </a:solidFill>
                <a:latin typeface="Segoe UI"/>
              </a:rPr>
              <a:t>Tab3</a:t>
            </a:r>
            <a:r>
              <a:rPr sz="1800" b="0" lang="pl-PL" noProof="1">
                <a:solidFill>
                  <a:srgbClr val="F3F5F0"/>
                </a:solidFill>
                <a:latin typeface="Segoe UI"/>
              </a:rPr>
              <a:t> pozwala przesłać </a:t>
            </a:r>
            <a:r>
              <a:rPr sz="1800" b="1" lang="pl-PL" noProof="1">
                <a:solidFill>
                  <a:srgbClr val="F3F5F0"/>
                </a:solidFill>
                <a:latin typeface="Segoe UI"/>
              </a:rPr>
              <a:t>zdjęcie</a:t>
            </a:r>
            <a:r>
              <a:rPr sz="1800" b="0" lang="pl-PL" noProof="1">
                <a:solidFill>
                  <a:srgbClr val="F3F5F0"/>
                </a:solidFill>
                <a:latin typeface="Segoe UI"/>
              </a:rPr>
              <a:t> oraz wpisać </a:t>
            </a:r>
            <a:r>
              <a:rPr sz="1800" b="1" lang="pl-PL" noProof="1">
                <a:solidFill>
                  <a:srgbClr val="F3F5F0"/>
                </a:solidFill>
                <a:latin typeface="Segoe UI"/>
              </a:rPr>
              <a:t>instrukcję tekstową</a:t>
            </a:r>
            <a:r>
              <a:rPr sz="1800" b="0" lang="pl-PL" noProof="1">
                <a:solidFill>
                  <a:srgbClr val="F3F5F0"/>
                </a:solidFill>
                <a:latin typeface="Segoe UI"/>
              </a:rPr>
              <a:t> (np. „Jaki to owoc i jakiego koloru?”). Aplikacja wysyła obraz + instrukcję do modelu </a:t>
            </a:r>
            <a:r>
              <a:rPr sz="1800" b="1" lang="pl-PL" noProof="1">
                <a:solidFill>
                  <a:srgbClr val="C6FF3D"/>
                </a:solidFill>
                <a:latin typeface="Segoe UI"/>
              </a:rPr>
              <a:t>Gemini</a:t>
            </a:r>
            <a:r>
              <a:rPr sz="1800" b="0" lang="pl-PL" noProof="1">
                <a:solidFill>
                  <a:srgbClr val="F3F5F0"/>
                </a:solidFill>
                <a:latin typeface="Segoe UI"/>
              </a:rPr>
              <a:t>, a ten zwraca opis treści obrazu zgodny z instrukcją.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9184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16181A"/>
          </a:solidFill>
          <a:ln w="9525">
            <a:solidFill>
              <a:srgbClr val="2A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47472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 lang="pl-PL" noProof="1">
                <a:solidFill>
                  <a:srgbClr val="C6FF3D"/>
                </a:solidFill>
                <a:latin typeface="Consolas"/>
              </a:rPr>
              <a:t>Wejście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023360"/>
            <a:ext cx="3063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 lang="pl-PL" noProof="1">
                <a:solidFill>
                  <a:srgbClr val="9AA09A"/>
                </a:solidFill>
                <a:latin typeface="Segoe UI"/>
              </a:rPr>
              <a:t>Obraz (PNG/JPEG) + instrukcja tekstowa od użytkownika.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329184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16181A"/>
          </a:solidFill>
          <a:ln w="9525">
            <a:solidFill>
              <a:srgbClr val="2A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59" y="347472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 lang="pl-PL" noProof="1">
                <a:solidFill>
                  <a:srgbClr val="C6FF3D"/>
                </a:solidFill>
                <a:latin typeface="Consolas"/>
              </a:rPr>
              <a:t>Przetwarzanie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59" y="4023360"/>
            <a:ext cx="3063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 lang="pl-PL" noProof="1">
                <a:solidFill>
                  <a:srgbClr val="9AA09A"/>
                </a:solidFill>
                <a:latin typeface="Segoe UI"/>
              </a:rPr>
              <a:t>Gemini analizuje obraz w kontekście instrukcji i tworzy opis.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329184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16181A"/>
          </a:solidFill>
          <a:ln w="9525">
            <a:solidFill>
              <a:srgbClr val="2A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9" y="347472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 lang="pl-PL" noProof="1">
                <a:solidFill>
                  <a:srgbClr val="C6FF3D"/>
                </a:solidFill>
                <a:latin typeface="Consolas"/>
              </a:rPr>
              <a:t>Wyjście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9" y="4023360"/>
            <a:ext cx="3063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 lang="pl-PL" noProof="1">
                <a:solidFill>
                  <a:srgbClr val="9AA09A"/>
                </a:solidFill>
                <a:latin typeface="Segoe UI"/>
              </a:rPr>
              <a:t>JSON { found, answer } → opis pokazany w powiadomieniu.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41908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lang="pl-PL" noProof="1">
                <a:solidFill>
                  <a:srgbClr val="9AA09A"/>
                </a:solidFill>
                <a:latin typeface="Consolas"/>
              </a:rPr>
              <a:t>Tab3 · opis zdjęcia przez Gemini   ·   </a:t>
            </a:r>
            <a:r>
              <a:rPr sz="1000" b="1" lang="pl-PL" noProof="1">
                <a:solidFill>
                  <a:srgbClr val="9BC62F"/>
                </a:solidFill>
                <a:latin typeface="Consolas"/>
              </a:rPr>
              <a:t>Opracowała: Ewelina Kasprowicz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411480"/>
            <a:ext cx="118872" cy="118872"/>
          </a:xfrm>
          <a:prstGeom prst="roundRect">
            <a:avLst/>
          </a:prstGeom>
          <a:solidFill>
            <a:srgbClr val="C6F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29184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lang="pl-PL" noProof="1">
                <a:solidFill>
                  <a:srgbClr val="9BC62F"/>
                </a:solidFill>
                <a:latin typeface="Consolas"/>
              </a:rPr>
              <a:t>data-flow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914400"/>
            <a:ext cx="73152" cy="566928"/>
          </a:xfrm>
          <a:prstGeom prst="rect">
            <a:avLst/>
          </a:prstGeom>
          <a:solidFill>
            <a:srgbClr val="C6F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841248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 lang="pl-PL" noProof="1">
                <a:solidFill>
                  <a:srgbClr val="F3F5F0"/>
                </a:solidFill>
                <a:latin typeface="Segoe UI"/>
              </a:rPr>
              <a:t>Przepływ danych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932688"/>
            <a:ext cx="2286000" cy="457200"/>
          </a:xfrm>
          <a:prstGeom prst="roundRect">
            <a:avLst>
              <a:gd name="adj" fmla="val 6000"/>
            </a:avLst>
          </a:prstGeom>
          <a:solidFill>
            <a:srgbClr val="16181A"/>
          </a:solidFill>
          <a:ln w="9525">
            <a:solidFill>
              <a:srgbClr val="2A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950976"/>
            <a:ext cx="2286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0" lang="pl-PL" noProof="1">
                <a:solidFill>
                  <a:srgbClr val="9AA09A"/>
                </a:solidFill>
                <a:latin typeface="Consolas"/>
              </a:rPr>
              <a:t>end-to-end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920240"/>
            <a:ext cx="2606040" cy="1325880"/>
          </a:xfrm>
          <a:prstGeom prst="roundRect">
            <a:avLst>
              <a:gd name="adj" fmla="val 6000"/>
            </a:avLst>
          </a:prstGeom>
          <a:solidFill>
            <a:srgbClr val="16181A"/>
          </a:solidFill>
          <a:ln w="9525">
            <a:solidFill>
              <a:srgbClr val="2A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02996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 lang="pl-PL" noProof="1">
                <a:solidFill>
                  <a:srgbClr val="C6FF3D"/>
                </a:solidFill>
                <a:latin typeface="Consolas"/>
              </a:rPr>
              <a:t>1 · Tab3.java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450592"/>
            <a:ext cx="2331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 lang="pl-PL" noProof="1">
                <a:solidFill>
                  <a:srgbClr val="9AA09A"/>
                </a:solidFill>
                <a:latin typeface="Segoe UI"/>
              </a:rPr>
              <a:t>Upload zdjęcia + pole tekstowe + przycisk „Opisz”.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1920240"/>
            <a:ext cx="2606040" cy="1325880"/>
          </a:xfrm>
          <a:prstGeom prst="roundRect">
            <a:avLst>
              <a:gd name="adj" fmla="val 6000"/>
            </a:avLst>
          </a:prstGeom>
          <a:solidFill>
            <a:srgbClr val="16181A"/>
          </a:solidFill>
          <a:ln w="9525">
            <a:solidFill>
              <a:srgbClr val="2A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0752" y="202996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 lang="pl-PL" noProof="1">
                <a:solidFill>
                  <a:srgbClr val="C6FF3D"/>
                </a:solidFill>
                <a:latin typeface="Consolas"/>
              </a:rPr>
              <a:t>2 · WebService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2450592"/>
            <a:ext cx="2331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 lang="pl-PL" noProof="1">
                <a:solidFill>
                  <a:srgbClr val="9AA09A"/>
                </a:solidFill>
                <a:latin typeface="Segoe UI"/>
              </a:rPr>
              <a:t>POST /api/v1/gemini/photo przez WebClient.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79" y="1920240"/>
            <a:ext cx="2606040" cy="1325880"/>
          </a:xfrm>
          <a:prstGeom prst="roundRect">
            <a:avLst>
              <a:gd name="adj" fmla="val 6000"/>
            </a:avLst>
          </a:prstGeom>
          <a:solidFill>
            <a:srgbClr val="16181A"/>
          </a:solidFill>
          <a:ln w="9525">
            <a:solidFill>
              <a:srgbClr val="2A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1" y="202996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 lang="pl-PL" noProof="1">
                <a:solidFill>
                  <a:srgbClr val="C6FF3D"/>
                </a:solidFill>
                <a:latin typeface="Consolas"/>
              </a:rPr>
              <a:t>3 · GeminiController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1" y="2450592"/>
            <a:ext cx="2331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 lang="pl-PL" noProof="1">
                <a:solidFill>
                  <a:srgbClr val="9AA09A"/>
                </a:solidFill>
                <a:latin typeface="Segoe UI"/>
              </a:rPr>
              <a:t>Odbiera PhotoChangeRequest.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3999" y="1920240"/>
            <a:ext cx="2606040" cy="1325880"/>
          </a:xfrm>
          <a:prstGeom prst="roundRect">
            <a:avLst>
              <a:gd name="adj" fmla="val 6000"/>
            </a:avLst>
          </a:prstGeom>
          <a:solidFill>
            <a:srgbClr val="16181A"/>
          </a:solidFill>
          <a:ln w="9525">
            <a:solidFill>
              <a:srgbClr val="2A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08591" y="202996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 lang="pl-PL" noProof="1">
                <a:solidFill>
                  <a:srgbClr val="C6FF3D"/>
                </a:solidFill>
                <a:latin typeface="Consolas"/>
              </a:rPr>
              <a:t>4 · GeminiService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08591" y="2450592"/>
            <a:ext cx="2331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 lang="pl-PL" noProof="1">
                <a:solidFill>
                  <a:srgbClr val="9AA09A"/>
                </a:solidFill>
                <a:latin typeface="Segoe UI"/>
              </a:rPr>
              <a:t>Buduje prompt, woła Gemini API.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474720"/>
            <a:ext cx="2606040" cy="1325880"/>
          </a:xfrm>
          <a:prstGeom prst="roundRect">
            <a:avLst>
              <a:gd name="adj" fmla="val 6000"/>
            </a:avLst>
          </a:prstGeom>
          <a:solidFill>
            <a:srgbClr val="16181A"/>
          </a:solidFill>
          <a:ln w="9525">
            <a:solidFill>
              <a:srgbClr val="2A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358444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 lang="pl-PL" noProof="1">
                <a:solidFill>
                  <a:srgbClr val="C6FF3D"/>
                </a:solidFill>
                <a:latin typeface="Consolas"/>
              </a:rPr>
              <a:t>5 · Gemini (Google)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4005072"/>
            <a:ext cx="2331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 lang="pl-PL" noProof="1">
                <a:solidFill>
                  <a:srgbClr val="9AA09A"/>
                </a:solidFill>
                <a:latin typeface="Segoe UI"/>
              </a:rPr>
              <a:t>Analiza obrazu + instrukcji, odpowiedź JSON.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66160" y="3474720"/>
            <a:ext cx="2606040" cy="1325880"/>
          </a:xfrm>
          <a:prstGeom prst="roundRect">
            <a:avLst>
              <a:gd name="adj" fmla="val 6000"/>
            </a:avLst>
          </a:prstGeom>
          <a:solidFill>
            <a:srgbClr val="16181A"/>
          </a:solidFill>
          <a:ln w="9525">
            <a:solidFill>
              <a:srgbClr val="2A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30752" y="358444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 lang="pl-PL" noProof="1">
                <a:solidFill>
                  <a:srgbClr val="C6FF3D"/>
                </a:solidFill>
                <a:latin typeface="Consolas"/>
              </a:rPr>
              <a:t>6 · GeminiParser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30752" y="4005072"/>
            <a:ext cx="2331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 lang="pl-PL" noProof="1">
                <a:solidFill>
                  <a:srgbClr val="9AA09A"/>
                </a:solidFill>
                <a:latin typeface="Segoe UI"/>
              </a:rPr>
              <a:t>Wyciąga tekst i mapuje na PhotoChangeResponse.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79" y="3474720"/>
            <a:ext cx="2606040" cy="1325880"/>
          </a:xfrm>
          <a:prstGeom prst="roundRect">
            <a:avLst>
              <a:gd name="adj" fmla="val 6000"/>
            </a:avLst>
          </a:prstGeom>
          <a:solidFill>
            <a:srgbClr val="16181A"/>
          </a:solidFill>
          <a:ln w="9525">
            <a:solidFill>
              <a:srgbClr val="2A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9671" y="358444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 lang="pl-PL" noProof="1">
                <a:solidFill>
                  <a:srgbClr val="C6FF3D"/>
                </a:solidFill>
                <a:latin typeface="Consolas"/>
              </a:rPr>
              <a:t>7 · → Tab3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9671" y="4005072"/>
            <a:ext cx="2331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 lang="pl-PL" noProof="1">
                <a:solidFill>
                  <a:srgbClr val="9AA09A"/>
                </a:solidFill>
                <a:latin typeface="Segoe UI"/>
              </a:rPr>
              <a:t>Mapowane na PhotoToChange → powiadomienie z opisem.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41908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lang="pl-PL" noProof="1">
                <a:solidFill>
                  <a:srgbClr val="9AA09A"/>
                </a:solidFill>
                <a:latin typeface="Consolas"/>
              </a:rPr>
              <a:t>Tab3 · opis zdjęcia przez Gemini   ·   </a:t>
            </a:r>
            <a:r>
              <a:rPr sz="1000" b="1" lang="pl-PL" noProof="1">
                <a:solidFill>
                  <a:srgbClr val="9BC62F"/>
                </a:solidFill>
                <a:latin typeface="Consolas"/>
              </a:rPr>
              <a:t>Opracowała: Ewelina Kasprowicz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411480"/>
            <a:ext cx="118872" cy="118872"/>
          </a:xfrm>
          <a:prstGeom prst="roundRect">
            <a:avLst/>
          </a:prstGeom>
          <a:solidFill>
            <a:srgbClr val="C6F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29184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lang="pl-PL" noProof="1">
                <a:solidFill>
                  <a:srgbClr val="9BC62F"/>
                </a:solidFill>
                <a:latin typeface="Consolas"/>
              </a:rPr>
              <a:t>components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914400"/>
            <a:ext cx="73152" cy="566928"/>
          </a:xfrm>
          <a:prstGeom prst="rect">
            <a:avLst/>
          </a:prstGeom>
          <a:solidFill>
            <a:srgbClr val="C6F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841248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 lang="pl-PL" noProof="1">
                <a:solidFill>
                  <a:srgbClr val="F3F5F0"/>
                </a:solidFill>
                <a:latin typeface="Segoe UI"/>
              </a:rPr>
              <a:t>Co dodaliśmy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932688"/>
            <a:ext cx="2286000" cy="457200"/>
          </a:xfrm>
          <a:prstGeom prst="roundRect">
            <a:avLst>
              <a:gd name="adj" fmla="val 6000"/>
            </a:avLst>
          </a:prstGeom>
          <a:solidFill>
            <a:srgbClr val="16181A"/>
          </a:solidFill>
          <a:ln w="9525">
            <a:solidFill>
              <a:srgbClr val="2A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950976"/>
            <a:ext cx="2286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0" lang="pl-PL" noProof="1">
                <a:solidFill>
                  <a:srgbClr val="9AA09A"/>
                </a:solidFill>
                <a:latin typeface="Consolas"/>
              </a:rPr>
              <a:t>nowe pliki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lang="pl-PL" noProof="1">
                <a:solidFill>
                  <a:srgbClr val="9AA09A"/>
                </a:solidFill>
                <a:latin typeface="Consolas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69164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lang="pl-PL" noProof="1">
                <a:solidFill>
                  <a:srgbClr val="9AA09A"/>
                </a:solidFill>
                <a:latin typeface="Consolas"/>
              </a:rPr>
              <a:t>BACKEND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103120"/>
            <a:ext cx="5212080" cy="896112"/>
          </a:xfrm>
          <a:prstGeom prst="roundRect">
            <a:avLst>
              <a:gd name="adj" fmla="val 6000"/>
            </a:avLst>
          </a:prstGeom>
          <a:solidFill>
            <a:srgbClr val="16181A"/>
          </a:solidFill>
          <a:ln w="9525">
            <a:solidFill>
              <a:srgbClr val="2A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176272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lang="pl-PL" noProof="1">
                <a:solidFill>
                  <a:srgbClr val="C6FF3D"/>
                </a:solidFill>
                <a:latin typeface="Consolas"/>
              </a:rPr>
              <a:t>Tab3.java</a:t>
            </a:r>
            <a:r>
              <a:rPr sz="1300" b="1" lang="pl-PL" noProof="1">
                <a:solidFill>
                  <a:srgbClr val="9BC62F"/>
                </a:solidFill>
                <a:latin typeface="Consolas"/>
              </a:rPr>
              <a:t>  NEW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6032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lang="pl-PL" noProof="1">
                <a:solidFill>
                  <a:srgbClr val="9AA09A"/>
                </a:solidFill>
                <a:latin typeface="Segoe UI"/>
              </a:rPr>
              <a:t>Widok: Upload, podgląd obrazu, pole instrukcji, przycisk.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127248"/>
            <a:ext cx="5212080" cy="896112"/>
          </a:xfrm>
          <a:prstGeom prst="roundRect">
            <a:avLst>
              <a:gd name="adj" fmla="val 6000"/>
            </a:avLst>
          </a:prstGeom>
          <a:solidFill>
            <a:srgbClr val="16181A"/>
          </a:solidFill>
          <a:ln w="9525">
            <a:solidFill>
              <a:srgbClr val="2A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2004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lang="pl-PL" noProof="1">
                <a:solidFill>
                  <a:srgbClr val="C6FF3D"/>
                </a:solidFill>
                <a:latin typeface="Consolas"/>
              </a:rPr>
              <a:t>tab3.css</a:t>
            </a:r>
            <a:r>
              <a:rPr sz="1300" b="1" lang="pl-PL" noProof="1">
                <a:solidFill>
                  <a:srgbClr val="9BC62F"/>
                </a:solidFill>
                <a:latin typeface="Consolas"/>
              </a:rPr>
              <a:t>  NEW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584448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lang="pl-PL" noProof="1">
                <a:solidFill>
                  <a:srgbClr val="9AA09A"/>
                </a:solidFill>
                <a:latin typeface="Segoe UI"/>
              </a:rPr>
              <a:t>Stylizacja zakładki (układ, kolory, zaokrąglenia).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151376"/>
            <a:ext cx="5212080" cy="896112"/>
          </a:xfrm>
          <a:prstGeom prst="roundRect">
            <a:avLst>
              <a:gd name="adj" fmla="val 6000"/>
            </a:avLst>
          </a:prstGeom>
          <a:solidFill>
            <a:srgbClr val="16181A"/>
          </a:solidFill>
          <a:ln w="9525">
            <a:solidFill>
              <a:srgbClr val="2A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224528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lang="pl-PL" noProof="1">
                <a:solidFill>
                  <a:srgbClr val="C6FF3D"/>
                </a:solidFill>
                <a:latin typeface="Consolas"/>
              </a:rPr>
              <a:t>WebService.isValidChange()</a:t>
            </a:r>
            <a:r>
              <a:rPr sz="1300" b="1" lang="pl-PL" noProof="1">
                <a:solidFill>
                  <a:srgbClr val="9BC62F"/>
                </a:solidFill>
                <a:latin typeface="Consolas"/>
              </a:rPr>
              <a:t>  NEW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608576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lang="pl-PL" noProof="1">
                <a:solidFill>
                  <a:srgbClr val="9AA09A"/>
                </a:solidFill>
                <a:latin typeface="Segoe UI"/>
              </a:rPr>
              <a:t>Wysyła obraz+tekst na /photo.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175504"/>
            <a:ext cx="5212080" cy="896112"/>
          </a:xfrm>
          <a:prstGeom prst="roundRect">
            <a:avLst>
              <a:gd name="adj" fmla="val 6000"/>
            </a:avLst>
          </a:prstGeom>
          <a:solidFill>
            <a:srgbClr val="16181A"/>
          </a:solidFill>
          <a:ln w="9525">
            <a:solidFill>
              <a:srgbClr val="2A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248656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lang="pl-PL" noProof="1">
                <a:solidFill>
                  <a:srgbClr val="C6FF3D"/>
                </a:solidFill>
                <a:latin typeface="Consolas"/>
              </a:rPr>
              <a:t>PhotoToChange.java</a:t>
            </a:r>
            <a:r>
              <a:rPr sz="1300" b="1" lang="pl-PL" noProof="1">
                <a:solidFill>
                  <a:srgbClr val="9BC62F"/>
                </a:solidFill>
                <a:latin typeface="Consolas"/>
              </a:rPr>
              <a:t>  NEW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632704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lang="pl-PL" noProof="1">
                <a:solidFill>
                  <a:srgbClr val="9AA09A"/>
                </a:solidFill>
                <a:latin typeface="Segoe UI"/>
              </a:rPr>
              <a:t>Model odpowiedzi frontu: found, answer.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2103120"/>
            <a:ext cx="5029200" cy="896112"/>
          </a:xfrm>
          <a:prstGeom prst="roundRect">
            <a:avLst>
              <a:gd name="adj" fmla="val 6000"/>
            </a:avLst>
          </a:prstGeom>
          <a:solidFill>
            <a:srgbClr val="16181A"/>
          </a:solidFill>
          <a:ln w="9525">
            <a:solidFill>
              <a:srgbClr val="2A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176272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lang="pl-PL" noProof="1">
                <a:solidFill>
                  <a:srgbClr val="C6FF3D"/>
                </a:solidFill>
                <a:latin typeface="Consolas"/>
              </a:rPr>
              <a:t>GeminiController · /photo</a:t>
            </a:r>
            <a:r>
              <a:rPr sz="1300" b="1" lang="pl-PL" noProof="1">
                <a:solidFill>
                  <a:srgbClr val="9BC62F"/>
                </a:solidFill>
                <a:latin typeface="Consolas"/>
              </a:rPr>
              <a:t>  NEW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256032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lang="pl-PL" noProof="1">
                <a:solidFill>
                  <a:srgbClr val="9AA09A"/>
                </a:solidFill>
                <a:latin typeface="Segoe UI"/>
              </a:rPr>
              <a:t>Endpoint REST: PhotoChangeRequest.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3127248"/>
            <a:ext cx="5029200" cy="896112"/>
          </a:xfrm>
          <a:prstGeom prst="roundRect">
            <a:avLst>
              <a:gd name="adj" fmla="val 6000"/>
            </a:avLst>
          </a:prstGeom>
          <a:solidFill>
            <a:srgbClr val="16181A"/>
          </a:solidFill>
          <a:ln w="9525">
            <a:solidFill>
              <a:srgbClr val="2A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320040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lang="pl-PL" noProof="1">
                <a:solidFill>
                  <a:srgbClr val="C6FF3D"/>
                </a:solidFill>
                <a:latin typeface="Consolas"/>
              </a:rPr>
              <a:t>GeminiService.photoChange()</a:t>
            </a:r>
            <a:r>
              <a:rPr sz="1300" b="1" lang="pl-PL" noProof="1">
                <a:solidFill>
                  <a:srgbClr val="9BC62F"/>
                </a:solidFill>
                <a:latin typeface="Consolas"/>
              </a:rPr>
              <a:t>  NEW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584448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lang="pl-PL" noProof="1">
                <a:solidFill>
                  <a:srgbClr val="9AA09A"/>
                </a:solidFill>
                <a:latin typeface="Segoe UI"/>
              </a:rPr>
              <a:t>Prompt do Gemini + obraz w base64.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4151376"/>
            <a:ext cx="5029200" cy="896112"/>
          </a:xfrm>
          <a:prstGeom prst="roundRect">
            <a:avLst>
              <a:gd name="adj" fmla="val 6000"/>
            </a:avLst>
          </a:prstGeom>
          <a:solidFill>
            <a:srgbClr val="16181A"/>
          </a:solidFill>
          <a:ln w="9525">
            <a:solidFill>
              <a:srgbClr val="2A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4224528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lang="pl-PL" noProof="1">
                <a:solidFill>
                  <a:srgbClr val="C6FF3D"/>
                </a:solidFill>
                <a:latin typeface="Consolas"/>
              </a:rPr>
              <a:t>PhotoChangeRequest / Response</a:t>
            </a:r>
            <a:r>
              <a:rPr sz="1300" b="1" lang="pl-PL" noProof="1">
                <a:solidFill>
                  <a:srgbClr val="9BC62F"/>
                </a:solidFill>
                <a:latin typeface="Consolas"/>
              </a:rPr>
              <a:t>  NEW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4608576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lang="pl-PL" noProof="1">
                <a:solidFill>
                  <a:srgbClr val="9AA09A"/>
                </a:solidFill>
                <a:latin typeface="Segoe UI"/>
              </a:rPr>
              <a:t>DTO żądania i odpowiedzi backendu.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5175504"/>
            <a:ext cx="5029200" cy="896112"/>
          </a:xfrm>
          <a:prstGeom prst="roundRect">
            <a:avLst>
              <a:gd name="adj" fmla="val 6000"/>
            </a:avLst>
          </a:prstGeom>
          <a:solidFill>
            <a:srgbClr val="16181A"/>
          </a:solidFill>
          <a:ln w="9525">
            <a:solidFill>
              <a:srgbClr val="2A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5248656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lang="pl-PL" noProof="1">
                <a:solidFill>
                  <a:srgbClr val="C6FF3D"/>
                </a:solidFill>
                <a:latin typeface="Consolas"/>
              </a:rPr>
              <a:t>GeminiParser.parsePhotoResponse()</a:t>
            </a:r>
            <a:r>
              <a:rPr sz="1300" b="1" lang="pl-PL" noProof="1">
                <a:solidFill>
                  <a:srgbClr val="9BC62F"/>
                </a:solidFill>
                <a:latin typeface="Consolas"/>
              </a:rPr>
              <a:t>  NEW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5632704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lang="pl-PL" noProof="1">
                <a:solidFill>
                  <a:srgbClr val="9AA09A"/>
                </a:solidFill>
                <a:latin typeface="Segoe UI"/>
              </a:rPr>
              <a:t>Parsowanie odpowiedzi Gemini.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641908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lang="pl-PL" noProof="1">
                <a:solidFill>
                  <a:srgbClr val="9AA09A"/>
                </a:solidFill>
                <a:latin typeface="Consolas"/>
              </a:rPr>
              <a:t>Tab3 · opis zdjęcia przez Gemini   ·   </a:t>
            </a:r>
            <a:r>
              <a:rPr sz="1000" b="1" lang="pl-PL" noProof="1">
                <a:solidFill>
                  <a:srgbClr val="9BC62F"/>
                </a:solidFill>
                <a:latin typeface="Consolas"/>
              </a:rPr>
              <a:t>Opracowała: Ewelina Kasprowicz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411480"/>
            <a:ext cx="118872" cy="118872"/>
          </a:xfrm>
          <a:prstGeom prst="roundRect">
            <a:avLst/>
          </a:prstGeom>
          <a:solidFill>
            <a:srgbClr val="C6F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29184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lang="pl-PL" noProof="1">
                <a:solidFill>
                  <a:srgbClr val="9BC62F"/>
                </a:solidFill>
                <a:latin typeface="Consolas"/>
              </a:rPr>
              <a:t>frontend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914400"/>
            <a:ext cx="73152" cy="566928"/>
          </a:xfrm>
          <a:prstGeom prst="rect">
            <a:avLst/>
          </a:prstGeom>
          <a:solidFill>
            <a:srgbClr val="C6F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841248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 lang="pl-PL" noProof="1">
                <a:solidFill>
                  <a:srgbClr val="F3F5F0"/>
                </a:solidFill>
                <a:latin typeface="Segoe UI"/>
              </a:rPr>
              <a:t>Frontend — Tab3.java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932688"/>
            <a:ext cx="2286000" cy="457200"/>
          </a:xfrm>
          <a:prstGeom prst="roundRect">
            <a:avLst>
              <a:gd name="adj" fmla="val 6000"/>
            </a:avLst>
          </a:prstGeom>
          <a:solidFill>
            <a:srgbClr val="16181A"/>
          </a:solidFill>
          <a:ln w="9525">
            <a:solidFill>
              <a:srgbClr val="2A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950976"/>
            <a:ext cx="2286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0" lang="pl-PL" noProof="1">
                <a:solidFill>
                  <a:srgbClr val="9AA09A"/>
                </a:solidFill>
                <a:latin typeface="Consolas"/>
              </a:rPr>
              <a:t>widok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0" lang="pl-PL" noProof="1">
                <a:solidFill>
                  <a:srgbClr val="9AA09A"/>
                </a:solidFill>
                <a:latin typeface="Segoe UI"/>
              </a:rPr>
              <a:t>Layout poziomy: po lewej karta z formularzem, po prawej podgląd zdjęcia. Przycisk aktywny dopiero gdy jest plik i tekst.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468880"/>
            <a:ext cx="54864" cy="2743200"/>
          </a:xfrm>
          <a:prstGeom prst="rect">
            <a:avLst/>
          </a:prstGeom>
          <a:solidFill>
            <a:srgbClr val="C6F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2468880"/>
            <a:ext cx="10607040" cy="2743200"/>
          </a:xfrm>
          <a:prstGeom prst="roundRect">
            <a:avLst>
              <a:gd name="adj" fmla="val 6000"/>
            </a:avLst>
          </a:prstGeom>
          <a:solidFill>
            <a:srgbClr val="0B0D0E"/>
          </a:solidFill>
          <a:ln w="9525">
            <a:solidFill>
              <a:srgbClr val="2226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578608"/>
            <a:ext cx="10287000" cy="2523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50" lang="pl-PL" noProof="1">
                <a:solidFill>
                  <a:srgbClr val="5D635C"/>
                </a:solidFill>
                <a:latin typeface="Consolas"/>
              </a:rPr>
              <a:t>// kliknięcie „Opisz” — wyślij obraz + instrukcję, pokaż wynik</a:t>
            </a:r>
          </a:p>
          <a:p>
            <a:pPr>
              <a:lnSpc>
                <a:spcPct val="115000"/>
              </a:lnSpc>
            </a:pPr>
            <a:r>
              <a:rPr sz="1250" lang="pl-PL" noProof="1">
                <a:solidFill>
                  <a:srgbClr val="9BE36B"/>
                </a:solidFill>
                <a:latin typeface="Consolas"/>
              </a:rPr>
              <a:t>buttonPhotoChange.addClickListener(event -&gt; {</a:t>
            </a:r>
          </a:p>
          <a:p>
            <a:pPr>
              <a:lnSpc>
                <a:spcPct val="115000"/>
              </a:lnSpc>
            </a:pPr>
            <a:r>
              <a:rPr sz="1250" lang="pl-PL" noProof="1">
                <a:solidFill>
                  <a:srgbClr val="9BE36B"/>
                </a:solidFill>
                <a:latin typeface="Consolas"/>
              </a:rPr>
              <a:t>    String text  = textFieldChange.getValue();</a:t>
            </a:r>
          </a:p>
          <a:p>
            <a:pPr>
              <a:lnSpc>
                <a:spcPct val="115000"/>
              </a:lnSpc>
            </a:pPr>
            <a:r>
              <a:rPr sz="1250" lang="pl-PL" noProof="1">
                <a:solidFill>
                  <a:srgbClr val="9BE36B"/>
                </a:solidFill>
                <a:latin typeface="Consolas"/>
              </a:rPr>
              <a:t>    byte[] image = memoryBufferChange.getInputStream().readAllBytes();</a:t>
            </a:r>
          </a:p>
          <a:p>
            <a:pPr>
              <a:lnSpc>
                <a:spcPct val="115000"/>
              </a:lnSpc>
            </a:pPr>
            <a:r>
              <a:rPr sz="1250" lang="pl-PL" noProof="1">
                <a:solidFill>
                  <a:srgbClr val="9BE36B"/>
                </a:solidFill>
                <a:latin typeface="Consolas"/>
              </a:rPr>
              <a:t>    WebService ws = ApplicationContext.getBean(WebService.class);</a:t>
            </a:r>
          </a:p>
          <a:p>
            <a:pPr>
              <a:lnSpc>
                <a:spcPct val="115000"/>
              </a:lnSpc>
            </a:pPr>
            <a:r>
              <a:rPr sz="1250" lang="pl-PL" noProof="1">
                <a:solidFill>
                  <a:srgbClr val="9BE36B"/>
                </a:solidFill>
                <a:latin typeface="Consolas"/>
              </a:rPr>
              <a:t>    PhotoToChange result = ws.isValidChange(text, image);</a:t>
            </a:r>
          </a:p>
          <a:p>
            <a:pPr>
              <a:lnSpc>
                <a:spcPct val="115000"/>
              </a:lnSpc>
            </a:pPr>
            <a:r>
              <a:rPr sz="1250" lang="pl-PL" noProof="1">
                <a:solidFill>
                  <a:srgbClr val="9BE36B"/>
                </a:solidFill>
                <a:latin typeface="Consolas"/>
              </a:rPr>
              <a:t>    String message = result.isFound() ? result.getAnswer()</a:t>
            </a:r>
          </a:p>
          <a:p>
            <a:pPr>
              <a:lnSpc>
                <a:spcPct val="115000"/>
              </a:lnSpc>
            </a:pPr>
            <a:r>
              <a:rPr sz="1250" lang="pl-PL" noProof="1">
                <a:solidFill>
                  <a:srgbClr val="9BE36B"/>
                </a:solidFill>
                <a:latin typeface="Consolas"/>
              </a:rPr>
              <a:t>                     : "To nie jest coś co mogę opisać.";</a:t>
            </a:r>
          </a:p>
          <a:p>
            <a:pPr>
              <a:lnSpc>
                <a:spcPct val="115000"/>
              </a:lnSpc>
            </a:pPr>
            <a:r>
              <a:rPr sz="1250" lang="pl-PL" noProof="1">
                <a:solidFill>
                  <a:srgbClr val="9BE36B"/>
                </a:solidFill>
                <a:latin typeface="Consolas"/>
              </a:rPr>
              <a:t>    new Notification(message, 15000).open();</a:t>
            </a:r>
          </a:p>
          <a:p>
            <a:pPr>
              <a:lnSpc>
                <a:spcPct val="115000"/>
              </a:lnSpc>
            </a:pPr>
            <a:r>
              <a:rPr sz="1250" lang="pl-PL" noProof="1">
                <a:solidFill>
                  <a:srgbClr val="9BE36B"/>
                </a:solidFill>
                <a:latin typeface="Consolas"/>
              </a:rPr>
              <a:t>});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41908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lang="pl-PL" noProof="1">
                <a:solidFill>
                  <a:srgbClr val="9AA09A"/>
                </a:solidFill>
                <a:latin typeface="Consolas"/>
              </a:rPr>
              <a:t>Tab3 · opis zdjęcia przez Gemini   ·   </a:t>
            </a:r>
            <a:r>
              <a:rPr sz="1000" b="1" lang="pl-PL" noProof="1">
                <a:solidFill>
                  <a:srgbClr val="9BC62F"/>
                </a:solidFill>
                <a:latin typeface="Consolas"/>
              </a:rPr>
              <a:t>Opracowała: Ewelina Kasprowicz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411480"/>
            <a:ext cx="118872" cy="118872"/>
          </a:xfrm>
          <a:prstGeom prst="roundRect">
            <a:avLst/>
          </a:prstGeom>
          <a:solidFill>
            <a:srgbClr val="C6F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29184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lang="pl-PL" noProof="1">
                <a:solidFill>
                  <a:srgbClr val="9BC62F"/>
                </a:solidFill>
                <a:latin typeface="Consolas"/>
              </a:rPr>
              <a:t>backend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914400"/>
            <a:ext cx="73152" cy="566928"/>
          </a:xfrm>
          <a:prstGeom prst="rect">
            <a:avLst/>
          </a:prstGeom>
          <a:solidFill>
            <a:srgbClr val="C6F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841248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 lang="pl-PL" noProof="1">
                <a:solidFill>
                  <a:srgbClr val="F3F5F0"/>
                </a:solidFill>
                <a:latin typeface="Segoe UI"/>
              </a:rPr>
              <a:t>Backend — prompt do Gemini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932688"/>
            <a:ext cx="2286000" cy="457200"/>
          </a:xfrm>
          <a:prstGeom prst="roundRect">
            <a:avLst>
              <a:gd name="adj" fmla="val 6000"/>
            </a:avLst>
          </a:prstGeom>
          <a:solidFill>
            <a:srgbClr val="16181A"/>
          </a:solidFill>
          <a:ln w="9525">
            <a:solidFill>
              <a:srgbClr val="2A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950976"/>
            <a:ext cx="2286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0" lang="pl-PL" noProof="1">
                <a:solidFill>
                  <a:srgbClr val="9AA09A"/>
                </a:solidFill>
                <a:latin typeface="Consolas"/>
              </a:rPr>
              <a:t>photoChange()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0" lang="pl-PL" noProof="1">
                <a:solidFill>
                  <a:srgbClr val="9AA09A"/>
                </a:solidFill>
                <a:latin typeface="Segoe UI"/>
              </a:rPr>
              <a:t>Obraz kodowany do base64 i wysyłany razem z instrukcją jako inline_data. Prompt wymusza odpowiedź w formacie JSON.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468880"/>
            <a:ext cx="54864" cy="2651760"/>
          </a:xfrm>
          <a:prstGeom prst="rect">
            <a:avLst/>
          </a:prstGeom>
          <a:solidFill>
            <a:srgbClr val="C6F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2468880"/>
            <a:ext cx="10607040" cy="2651760"/>
          </a:xfrm>
          <a:prstGeom prst="roundRect">
            <a:avLst>
              <a:gd name="adj" fmla="val 6000"/>
            </a:avLst>
          </a:prstGeom>
          <a:solidFill>
            <a:srgbClr val="0B0D0E"/>
          </a:solidFill>
          <a:ln w="9525">
            <a:solidFill>
              <a:srgbClr val="2226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578608"/>
            <a:ext cx="10287000" cy="2432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50" lang="pl-PL" noProof="1">
                <a:solidFill>
                  <a:srgbClr val="9BE36B"/>
                </a:solidFill>
                <a:latin typeface="Consolas"/>
              </a:rPr>
              <a:t>String base64Image = Base64.getEncoder().encodeToString(image);</a:t>
            </a:r>
          </a:p>
          <a:p>
            <a:pPr>
              <a:lnSpc>
                <a:spcPct val="115000"/>
              </a:lnSpc>
            </a:pPr>
            <a:r>
              <a:rPr sz="1250" lang="pl-PL" noProof="1">
                <a:solidFill>
                  <a:srgbClr val="9BE36B"/>
                </a:solidFill>
                <a:latin typeface="Consolas"/>
              </a:rPr>
              <a:t>jsonPayload = """</a:t>
            </a:r>
          </a:p>
          <a:p>
            <a:pPr>
              <a:lnSpc>
                <a:spcPct val="115000"/>
              </a:lnSpc>
            </a:pPr>
            <a:r>
              <a:rPr sz="1250" lang="pl-PL" noProof="1">
                <a:solidFill>
                  <a:srgbClr val="9BE36B"/>
                </a:solidFill>
                <a:latin typeface="Consolas"/>
              </a:rPr>
              <a:t>  { "contents":[{ "parts":[</a:t>
            </a:r>
          </a:p>
          <a:p>
            <a:pPr>
              <a:lnSpc>
                <a:spcPct val="115000"/>
              </a:lnSpc>
            </a:pPr>
            <a:r>
              <a:rPr sz="1250" lang="pl-PL" noProof="1">
                <a:solidFill>
                  <a:srgbClr val="9BE36B"/>
                </a:solidFill>
                <a:latin typeface="Consolas"/>
              </a:rPr>
              <a:t>    { "text":"Opisz zawartość obrazu zgodnie z instrukcją: %s.\n</a:t>
            </a:r>
          </a:p>
          <a:p>
            <a:pPr>
              <a:lnSpc>
                <a:spcPct val="115000"/>
              </a:lnSpc>
            </a:pPr>
            <a:r>
              <a:rPr sz="1250" lang="pl-PL" noProof="1">
                <a:solidFill>
                  <a:srgbClr val="9BE36B"/>
                </a:solidFill>
                <a:latin typeface="Consolas"/>
              </a:rPr>
              <a:t>       Zwróć JSON: { \"found\":true/false, \"answer\":\"opis\" }" },</a:t>
            </a:r>
          </a:p>
          <a:p>
            <a:pPr>
              <a:lnSpc>
                <a:spcPct val="115000"/>
              </a:lnSpc>
            </a:pPr>
            <a:r>
              <a:rPr sz="1250" lang="pl-PL" noProof="1">
                <a:solidFill>
                  <a:srgbClr val="9BE36B"/>
                </a:solidFill>
                <a:latin typeface="Consolas"/>
              </a:rPr>
              <a:t>    { "inline_data":{ "mime_type":"image/jpeg", "data":"%s" } }</a:t>
            </a:r>
          </a:p>
          <a:p>
            <a:pPr>
              <a:lnSpc>
                <a:spcPct val="115000"/>
              </a:lnSpc>
            </a:pPr>
            <a:r>
              <a:rPr sz="1250" lang="pl-PL" noProof="1">
                <a:solidFill>
                  <a:srgbClr val="9BE36B"/>
                </a:solidFill>
                <a:latin typeface="Consolas"/>
              </a:rPr>
              <a:t>  ]}] }""".formatted(text, base64Image);</a:t>
            </a:r>
          </a:p>
          <a:p>
            <a:pPr>
              <a:lnSpc>
                <a:spcPct val="115000"/>
              </a:lnSpc>
            </a:pPr>
            <a:r>
              <a:rPr sz="1250" lang="pl-PL" noProof="1">
                <a:solidFill>
                  <a:srgbClr val="5D635C"/>
                </a:solidFill>
                <a:latin typeface="Consolas"/>
              </a:rPr>
              <a:t>// odpowiedź → GeminiParser.parsePhotoResponse() → PhotoChangeResponse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30352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lang="pl-PL" noProof="1">
                <a:solidFill>
                  <a:srgbClr val="9AA09A"/>
                </a:solidFill>
                <a:latin typeface="Segoe UI"/>
              </a:rPr>
              <a:t>Komunikacja przez java.net.http.HttpClient; model gemini-2.5-flash (multimodalny).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41908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lang="pl-PL" noProof="1">
                <a:solidFill>
                  <a:srgbClr val="9AA09A"/>
                </a:solidFill>
                <a:latin typeface="Consolas"/>
              </a:rPr>
              <a:t>Tab3 · opis zdjęcia przez Gemini   ·   </a:t>
            </a:r>
            <a:r>
              <a:rPr sz="1000" b="1" lang="pl-PL" noProof="1">
                <a:solidFill>
                  <a:srgbClr val="9BC62F"/>
                </a:solidFill>
                <a:latin typeface="Consolas"/>
              </a:rPr>
              <a:t>Opracowała: Ewelina Kasprowicz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411480"/>
            <a:ext cx="118872" cy="118872"/>
          </a:xfrm>
          <a:prstGeom prst="roundRect">
            <a:avLst/>
          </a:prstGeom>
          <a:solidFill>
            <a:srgbClr val="C6F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29184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lang="pl-PL" noProof="1">
                <a:solidFill>
                  <a:srgbClr val="9BC62F"/>
                </a:solidFill>
                <a:latin typeface="Consolas"/>
              </a:rPr>
              <a:t>bug-report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914400"/>
            <a:ext cx="73152" cy="566928"/>
          </a:xfrm>
          <a:prstGeom prst="rect">
            <a:avLst/>
          </a:prstGeom>
          <a:solidFill>
            <a:srgbClr val="C6F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841248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 lang="pl-PL" noProof="1">
                <a:solidFill>
                  <a:srgbClr val="F3F5F0"/>
                </a:solidFill>
                <a:latin typeface="Segoe UI"/>
              </a:rPr>
              <a:t>Stan zastany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932688"/>
            <a:ext cx="2286000" cy="457200"/>
          </a:xfrm>
          <a:prstGeom prst="roundRect">
            <a:avLst>
              <a:gd name="adj" fmla="val 6000"/>
            </a:avLst>
          </a:prstGeom>
          <a:solidFill>
            <a:srgbClr val="16181A"/>
          </a:solidFill>
          <a:ln w="9525">
            <a:solidFill>
              <a:srgbClr val="2A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950976"/>
            <a:ext cx="2286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0" lang="pl-PL" noProof="1">
                <a:solidFill>
                  <a:srgbClr val="9AA09A"/>
                </a:solidFill>
                <a:latin typeface="Consolas"/>
              </a:rPr>
              <a:t>dlaczego nie działało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0" lang="pl-PL" noProof="1">
                <a:solidFill>
                  <a:srgbClr val="9AA09A"/>
                </a:solidFill>
                <a:latin typeface="Segoe UI"/>
              </a:rPr>
              <a:t>Po złożeniu kodu zakładka „nic nie robiła”. Diagnoza wykazała błędy blokujące kompilację i działanie backendu: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68880"/>
            <a:ext cx="106070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1" lang="pl-PL" noProof="1">
                <a:solidFill>
                  <a:srgbClr val="FF6B6B"/>
                </a:solidFill>
                <a:latin typeface="Segoe UI"/>
              </a:rPr>
              <a:t>▸  </a:t>
            </a:r>
            <a:r>
              <a:rPr sz="1700" b="0" lang="pl-PL" noProof="1">
                <a:solidFill>
                  <a:srgbClr val="F3F5F0"/>
                </a:solidFill>
                <a:latin typeface="Segoe UI"/>
              </a:rPr>
              <a:t>Backend się nie kompilował — pomieszane klasy i metody.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1" lang="pl-PL" noProof="1">
                <a:solidFill>
                  <a:srgbClr val="FF6B6B"/>
                </a:solidFill>
                <a:latin typeface="Segoe UI"/>
              </a:rPr>
              <a:t>▸  </a:t>
            </a:r>
            <a:r>
              <a:rPr sz="1700" b="0" lang="pl-PL" noProof="1">
                <a:solidFill>
                  <a:srgbClr val="F3F5F0"/>
                </a:solidFill>
                <a:latin typeface="Segoe UI"/>
              </a:rPr>
              <a:t>Brak endpointów /photo i /plate — żądania frontu trafiały w 404.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1" lang="pl-PL" noProof="1">
                <a:solidFill>
                  <a:srgbClr val="FF6B6B"/>
                </a:solidFill>
                <a:latin typeface="Segoe UI"/>
              </a:rPr>
              <a:t>▸  </a:t>
            </a:r>
            <a:r>
              <a:rPr sz="1700" b="0" lang="pl-PL" noProof="1">
                <a:solidFill>
                  <a:srgbClr val="F3F5F0"/>
                </a:solidFill>
                <a:latin typeface="Segoe UI"/>
              </a:rPr>
              <a:t>Niepoprawny JSON w promptcie (surowe znaki nowej linii).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1" lang="pl-PL" noProof="1">
                <a:solidFill>
                  <a:srgbClr val="FF6B6B"/>
                </a:solidFill>
                <a:latin typeface="Segoe UI"/>
              </a:rPr>
              <a:t>▸  </a:t>
            </a:r>
            <a:r>
              <a:rPr sz="1700" b="0" lang="pl-PL" noProof="1">
                <a:solidFill>
                  <a:srgbClr val="F3F5F0"/>
                </a:solidFill>
                <a:latin typeface="Segoe UI"/>
              </a:rPr>
              <a:t>Złe nazwy akcesorów — dane nie wiązały się z JSON-em.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1" lang="pl-PL" noProof="1">
                <a:solidFill>
                  <a:srgbClr val="FF6B6B"/>
                </a:solidFill>
                <a:latin typeface="Segoe UI"/>
              </a:rPr>
              <a:t>▸  </a:t>
            </a:r>
            <a:r>
              <a:rPr sz="1700" b="0" lang="pl-PL" noProof="1">
                <a:solidFill>
                  <a:srgbClr val="F3F5F0"/>
                </a:solidFill>
                <a:latin typeface="Segoe UI"/>
              </a:rPr>
              <a:t>Brak getterów w ImageResponse → błąd 406.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1" lang="pl-PL" noProof="1">
                <a:solidFill>
                  <a:srgbClr val="FFD24A"/>
                </a:solidFill>
                <a:latin typeface="Segoe UI"/>
              </a:rPr>
              <a:t>▸  </a:t>
            </a:r>
            <a:r>
              <a:rPr sz="1700" b="0" lang="pl-PL" noProof="1">
                <a:solidFill>
                  <a:srgbClr val="F3F5F0"/>
                </a:solidFill>
                <a:latin typeface="Segoe UI"/>
              </a:rPr>
              <a:t>Puste catch {} — błędy ukryte, brak informacji.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1" lang="pl-PL" noProof="1">
                <a:solidFill>
                  <a:srgbClr val="FFD24A"/>
                </a:solidFill>
                <a:latin typeface="Segoe UI"/>
              </a:rPr>
              <a:t>▸  </a:t>
            </a:r>
            <a:r>
              <a:rPr sz="1700" b="0" lang="pl-PL" noProof="1">
                <a:solidFill>
                  <a:srgbClr val="F3F5F0"/>
                </a:solidFill>
                <a:latin typeface="Segoe UI"/>
              </a:rPr>
              <a:t>Backend nie był uruchomiony — front pukał na pusty port 8081.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1908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lang="pl-PL" noProof="1">
                <a:solidFill>
                  <a:srgbClr val="9AA09A"/>
                </a:solidFill>
                <a:latin typeface="Consolas"/>
              </a:rPr>
              <a:t>Tab3 · opis zdjęcia przez Gemini   ·   </a:t>
            </a:r>
            <a:r>
              <a:rPr sz="1000" b="1" lang="pl-PL" noProof="1">
                <a:solidFill>
                  <a:srgbClr val="9BC62F"/>
                </a:solidFill>
                <a:latin typeface="Consolas"/>
              </a:rPr>
              <a:t>Opracowała: Ewelina Kasprowicz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411480"/>
            <a:ext cx="118872" cy="118872"/>
          </a:xfrm>
          <a:prstGeom prst="roundRect">
            <a:avLst/>
          </a:prstGeom>
          <a:solidFill>
            <a:srgbClr val="C6F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29184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lang="pl-PL" noProof="1">
                <a:solidFill>
                  <a:srgbClr val="9BC62F"/>
                </a:solidFill>
                <a:latin typeface="Consolas"/>
              </a:rPr>
              <a:t>fixes · 1/2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914400"/>
            <a:ext cx="73152" cy="566928"/>
          </a:xfrm>
          <a:prstGeom prst="rect">
            <a:avLst/>
          </a:prstGeom>
          <a:solidFill>
            <a:srgbClr val="C6F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841248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 lang="pl-PL" noProof="1">
                <a:solidFill>
                  <a:srgbClr val="F3F5F0"/>
                </a:solidFill>
                <a:latin typeface="Segoe UI"/>
              </a:rPr>
              <a:t>Co poprawiliśmy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932688"/>
            <a:ext cx="2286000" cy="457200"/>
          </a:xfrm>
          <a:prstGeom prst="roundRect">
            <a:avLst>
              <a:gd name="adj" fmla="val 6000"/>
            </a:avLst>
          </a:prstGeom>
          <a:solidFill>
            <a:srgbClr val="16181A"/>
          </a:solidFill>
          <a:ln w="9525">
            <a:solidFill>
              <a:srgbClr val="2A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950976"/>
            <a:ext cx="2286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0" lang="pl-PL" noProof="1">
                <a:solidFill>
                  <a:srgbClr val="9AA09A"/>
                </a:solidFill>
                <a:latin typeface="Consolas"/>
              </a:rPr>
              <a:t>żeby zadziałało ·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83080"/>
            <a:ext cx="10607040" cy="1024128"/>
          </a:xfrm>
          <a:prstGeom prst="roundRect">
            <a:avLst>
              <a:gd name="adj" fmla="val 6000"/>
            </a:avLst>
          </a:prstGeom>
          <a:solidFill>
            <a:srgbClr val="16181A"/>
          </a:solidFill>
          <a:ln w="9525">
            <a:solidFill>
              <a:srgbClr val="2A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874519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lang="pl-PL" noProof="1">
                <a:solidFill>
                  <a:srgbClr val="F3F5F0"/>
                </a:solidFill>
                <a:latin typeface="Segoe UI"/>
              </a:rPr>
              <a:t>🧩  </a:t>
            </a:r>
            <a:r>
              <a:rPr sz="1500" b="1" lang="pl-PL" noProof="1">
                <a:solidFill>
                  <a:srgbClr val="F3F5F0"/>
                </a:solidFill>
                <a:latin typeface="Segoe UI"/>
              </a:rPr>
              <a:t>PhotoChangeResponse.java</a:t>
            </a:r>
            <a:r>
              <a:rPr sz="1500" b="1" lang="pl-PL" noProof="1">
                <a:solidFill>
                  <a:srgbClr val="FFD24A"/>
                </a:solidFill>
                <a:latin typeface="Segoe UI"/>
              </a:rPr>
              <a:t>   FIX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 lang="pl-PL" noProof="1">
                <a:solidFill>
                  <a:srgbClr val="9AA09A"/>
                </a:solidFill>
                <a:latin typeface="Segoe UI"/>
              </a:rPr>
              <a:t>Plik zawierał omyłkowo klasę GeminiParser (copy-paste). Przywróciliśmy właściwą klasę z polami found / answer — bez niej kod się nie kompilował.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953512"/>
            <a:ext cx="10607040" cy="1024128"/>
          </a:xfrm>
          <a:prstGeom prst="roundRect">
            <a:avLst>
              <a:gd name="adj" fmla="val 6000"/>
            </a:avLst>
          </a:prstGeom>
          <a:solidFill>
            <a:srgbClr val="16181A"/>
          </a:solidFill>
          <a:ln w="9525">
            <a:solidFill>
              <a:srgbClr val="2A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044952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lang="pl-PL" noProof="1">
                <a:solidFill>
                  <a:srgbClr val="F3F5F0"/>
                </a:solidFill>
                <a:latin typeface="Segoe UI"/>
              </a:rPr>
              <a:t>🧹  </a:t>
            </a:r>
            <a:r>
              <a:rPr sz="1500" b="1" lang="pl-PL" noProof="1">
                <a:solidFill>
                  <a:srgbClr val="F3F5F0"/>
                </a:solidFill>
                <a:latin typeface="Segoe UI"/>
              </a:rPr>
              <a:t>GeminiParser.java</a:t>
            </a:r>
            <a:r>
              <a:rPr sz="1500" b="1" lang="pl-PL" noProof="1">
                <a:solidFill>
                  <a:srgbClr val="FFD24A"/>
                </a:solidFill>
                <a:latin typeface="Segoe UI"/>
              </a:rPr>
              <a:t>   FIX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456432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 lang="pl-PL" noProof="1">
                <a:solidFill>
                  <a:srgbClr val="9AA09A"/>
                </a:solidFill>
                <a:latin typeface="Segoe UI"/>
              </a:rPr>
              <a:t>Zdublowane metody, literówka paresImageResponse, getText() bez return, brak parsePhotoResponse. Przepisaliśmy na czystą wersję z 4 metodami.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123944"/>
            <a:ext cx="10607040" cy="1024128"/>
          </a:xfrm>
          <a:prstGeom prst="roundRect">
            <a:avLst>
              <a:gd name="adj" fmla="val 6000"/>
            </a:avLst>
          </a:prstGeom>
          <a:solidFill>
            <a:srgbClr val="16181A"/>
          </a:solidFill>
          <a:ln w="9525">
            <a:solidFill>
              <a:srgbClr val="2A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215383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lang="pl-PL" noProof="1">
                <a:solidFill>
                  <a:srgbClr val="F3F5F0"/>
                </a:solidFill>
                <a:latin typeface="Segoe UI"/>
              </a:rPr>
              <a:t>🔌  </a:t>
            </a:r>
            <a:r>
              <a:rPr sz="1500" b="1" lang="pl-PL" noProof="1">
                <a:solidFill>
                  <a:srgbClr val="F3F5F0"/>
                </a:solidFill>
                <a:latin typeface="Segoe UI"/>
              </a:rPr>
              <a:t>GeminiController — dodane /photo i /plate</a:t>
            </a:r>
            <a:r>
              <a:rPr sz="1500" b="1" lang="pl-PL" noProof="1">
                <a:solidFill>
                  <a:srgbClr val="FFD24A"/>
                </a:solidFill>
                <a:latin typeface="Segoe UI"/>
              </a:rPr>
              <a:t>   FIX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626864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 lang="pl-PL" noProof="1">
                <a:solidFill>
                  <a:srgbClr val="9AA09A"/>
                </a:solidFill>
                <a:latin typeface="Segoe UI"/>
              </a:rPr>
              <a:t>Frontend wołał te ścieżki, ale ich nie było. Dodaliśmy @PostMapping wywołujące photoChange() i isCorrect().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41908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lang="pl-PL" noProof="1">
                <a:solidFill>
                  <a:srgbClr val="9AA09A"/>
                </a:solidFill>
                <a:latin typeface="Consolas"/>
              </a:rPr>
              <a:t>Tab3 · opis zdjęcia przez Gemini   ·   </a:t>
            </a:r>
            <a:r>
              <a:rPr sz="1000" b="1" lang="pl-PL" noProof="1">
                <a:solidFill>
                  <a:srgbClr val="9BC62F"/>
                </a:solidFill>
                <a:latin typeface="Consolas"/>
              </a:rPr>
              <a:t>Opracowała: Ewelina Kasprowicz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411480"/>
            <a:ext cx="118872" cy="118872"/>
          </a:xfrm>
          <a:prstGeom prst="roundRect">
            <a:avLst/>
          </a:prstGeom>
          <a:solidFill>
            <a:srgbClr val="C6F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29184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lang="pl-PL" noProof="1">
                <a:solidFill>
                  <a:srgbClr val="9BC62F"/>
                </a:solidFill>
                <a:latin typeface="Consolas"/>
              </a:rPr>
              <a:t>fixes · 2/2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914400"/>
            <a:ext cx="73152" cy="566928"/>
          </a:xfrm>
          <a:prstGeom prst="rect">
            <a:avLst/>
          </a:prstGeom>
          <a:solidFill>
            <a:srgbClr val="C6F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841248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 lang="pl-PL" noProof="1">
                <a:solidFill>
                  <a:srgbClr val="F3F5F0"/>
                </a:solidFill>
                <a:latin typeface="Segoe UI"/>
              </a:rPr>
              <a:t>Co poprawiliśmy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932688"/>
            <a:ext cx="2286000" cy="457200"/>
          </a:xfrm>
          <a:prstGeom prst="roundRect">
            <a:avLst>
              <a:gd name="adj" fmla="val 6000"/>
            </a:avLst>
          </a:prstGeom>
          <a:solidFill>
            <a:srgbClr val="16181A"/>
          </a:solidFill>
          <a:ln w="9525">
            <a:solidFill>
              <a:srgbClr val="2A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950976"/>
            <a:ext cx="2286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0" lang="pl-PL" noProof="1">
                <a:solidFill>
                  <a:srgbClr val="9AA09A"/>
                </a:solidFill>
                <a:latin typeface="Consolas"/>
              </a:rPr>
              <a:t>żeby zadziałało ·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83080"/>
            <a:ext cx="10607040" cy="1024128"/>
          </a:xfrm>
          <a:prstGeom prst="roundRect">
            <a:avLst>
              <a:gd name="adj" fmla="val 6000"/>
            </a:avLst>
          </a:prstGeom>
          <a:solidFill>
            <a:srgbClr val="16181A"/>
          </a:solidFill>
          <a:ln w="9525">
            <a:solidFill>
              <a:srgbClr val="2A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874519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lang="pl-PL" noProof="1">
                <a:solidFill>
                  <a:srgbClr val="F3F5F0"/>
                </a:solidFill>
                <a:latin typeface="Segoe UI"/>
              </a:rPr>
              <a:t>📝  </a:t>
            </a:r>
            <a:r>
              <a:rPr sz="1500" b="1" lang="pl-PL" noProof="1">
                <a:solidFill>
                  <a:srgbClr val="F3F5F0"/>
                </a:solidFill>
                <a:latin typeface="Segoe UI"/>
              </a:rPr>
              <a:t>GeminiService.photoChange() — naprawiony JSON</a:t>
            </a:r>
            <a:r>
              <a:rPr sz="1500" b="1" lang="pl-PL" noProof="1">
                <a:solidFill>
                  <a:srgbClr val="FFD24A"/>
                </a:solidFill>
                <a:latin typeface="Segoe UI"/>
              </a:rPr>
              <a:t>   FIX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 lang="pl-PL" noProof="1">
                <a:solidFill>
                  <a:srgbClr val="9AA09A"/>
                </a:solidFill>
                <a:latin typeface="Segoe UI"/>
              </a:rPr>
              <a:t>Tekst promptu rozbity na 3 linie → niepoprawny JSON. Zwinęliśmy do jednej linii z \n i poprawnymi cudzysłowami.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953512"/>
            <a:ext cx="10607040" cy="1024128"/>
          </a:xfrm>
          <a:prstGeom prst="roundRect">
            <a:avLst>
              <a:gd name="adj" fmla="val 6000"/>
            </a:avLst>
          </a:prstGeom>
          <a:solidFill>
            <a:srgbClr val="16181A"/>
          </a:solidFill>
          <a:ln w="9525">
            <a:solidFill>
              <a:srgbClr val="2A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044952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lang="pl-PL" noProof="1">
                <a:solidFill>
                  <a:srgbClr val="F3F5F0"/>
                </a:solidFill>
                <a:latin typeface="Segoe UI"/>
              </a:rPr>
              <a:t>🔗  </a:t>
            </a:r>
            <a:r>
              <a:rPr sz="1500" b="1" lang="pl-PL" noProof="1">
                <a:solidFill>
                  <a:srgbClr val="F3F5F0"/>
                </a:solidFill>
                <a:latin typeface="Segoe UI"/>
              </a:rPr>
              <a:t>PhotoChangeRequest — nazwa settera</a:t>
            </a:r>
            <a:r>
              <a:rPr sz="1500" b="1" lang="pl-PL" noProof="1">
                <a:solidFill>
                  <a:srgbClr val="FFD24A"/>
                </a:solidFill>
                <a:latin typeface="Segoe UI"/>
              </a:rPr>
              <a:t>   FIX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456432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 lang="pl-PL" noProof="1">
                <a:solidFill>
                  <a:srgbClr val="9AA09A"/>
                </a:solidFill>
                <a:latin typeface="Segoe UI"/>
              </a:rPr>
              <a:t>setSentenceToChange nie pasował do klucza JSON sentenseToChange → instrukcja docierała jako null. Zmiana na setSentenseToChange.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123944"/>
            <a:ext cx="10607040" cy="1024128"/>
          </a:xfrm>
          <a:prstGeom prst="roundRect">
            <a:avLst>
              <a:gd name="adj" fmla="val 6000"/>
            </a:avLst>
          </a:prstGeom>
          <a:solidFill>
            <a:srgbClr val="16181A"/>
          </a:solidFill>
          <a:ln w="9525">
            <a:solidFill>
              <a:srgbClr val="2A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215383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lang="pl-PL" noProof="1">
                <a:solidFill>
                  <a:srgbClr val="F3F5F0"/>
                </a:solidFill>
                <a:latin typeface="Segoe UI"/>
              </a:rPr>
              <a:t>📦  </a:t>
            </a:r>
            <a:r>
              <a:rPr sz="1500" b="1" lang="pl-PL" noProof="1">
                <a:solidFill>
                  <a:srgbClr val="F3F5F0"/>
                </a:solidFill>
                <a:latin typeface="Segoe UI"/>
              </a:rPr>
              <a:t>ImageResponse (backend) — dodane gettery</a:t>
            </a:r>
            <a:r>
              <a:rPr sz="1500" b="1" lang="pl-PL" noProof="1">
                <a:solidFill>
                  <a:srgbClr val="FFD24A"/>
                </a:solidFill>
                <a:latin typeface="Segoe UI"/>
              </a:rPr>
              <a:t>   FIX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626864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 lang="pl-PL" noProof="1">
                <a:solidFill>
                  <a:srgbClr val="9AA09A"/>
                </a:solidFill>
                <a:latin typeface="Segoe UI"/>
              </a:rPr>
              <a:t>Brak getterów → Jackson nie serializował odpowiedzi → 406. Dodaliśmy isFound() i getDetected_plate() (naprawia Tab2).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294376"/>
            <a:ext cx="10607040" cy="1024128"/>
          </a:xfrm>
          <a:prstGeom prst="roundRect">
            <a:avLst>
              <a:gd name="adj" fmla="val 6000"/>
            </a:avLst>
          </a:prstGeom>
          <a:solidFill>
            <a:srgbClr val="16181A"/>
          </a:solidFill>
          <a:ln w="9525">
            <a:solidFill>
              <a:srgbClr val="2A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385816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lang="pl-PL" noProof="1">
                <a:solidFill>
                  <a:srgbClr val="F3F5F0"/>
                </a:solidFill>
                <a:latin typeface="Segoe UI"/>
              </a:rPr>
              <a:t>🔔  </a:t>
            </a:r>
            <a:r>
              <a:rPr sz="1500" b="1" lang="pl-PL" noProof="1">
                <a:solidFill>
                  <a:srgbClr val="F3F5F0"/>
                </a:solidFill>
                <a:latin typeface="Segoe UI"/>
              </a:rPr>
              <a:t>Tab3.java — widoczne błędy</a:t>
            </a:r>
            <a:r>
              <a:rPr sz="1500" b="1" lang="pl-PL" noProof="1">
                <a:solidFill>
                  <a:srgbClr val="FFD24A"/>
                </a:solidFill>
                <a:latin typeface="Segoe UI"/>
              </a:rPr>
              <a:t>   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797296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 lang="pl-PL" noProof="1">
                <a:solidFill>
                  <a:srgbClr val="9AA09A"/>
                </a:solidFill>
                <a:latin typeface="Segoe UI"/>
              </a:rPr>
              <a:t>Puste catch {} zamieniliśmy na Notification.show(...) — błąd jest teraz widoczny.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41908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lang="pl-PL" noProof="1">
                <a:solidFill>
                  <a:srgbClr val="9AA09A"/>
                </a:solidFill>
                <a:latin typeface="Consolas"/>
              </a:rPr>
              <a:t>Tab3 · opis zdjęcia przez Gemini   ·   </a:t>
            </a:r>
            <a:r>
              <a:rPr sz="1000" b="1" lang="pl-PL" noProof="1">
                <a:solidFill>
                  <a:srgbClr val="9BC62F"/>
                </a:solidFill>
                <a:latin typeface="Consolas"/>
              </a:rPr>
              <a:t>Opracowała: Ewelina Kasprowicz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411480"/>
            <a:ext cx="118872" cy="118872"/>
          </a:xfrm>
          <a:prstGeom prst="roundRect">
            <a:avLst/>
          </a:prstGeom>
          <a:solidFill>
            <a:srgbClr val="C6F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29184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lang="pl-PL" noProof="1">
                <a:solidFill>
                  <a:srgbClr val="9BC62F"/>
                </a:solidFill>
                <a:latin typeface="Consolas"/>
              </a:rPr>
              <a:t>root-cause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914400"/>
            <a:ext cx="73152" cy="566928"/>
          </a:xfrm>
          <a:prstGeom prst="rect">
            <a:avLst/>
          </a:prstGeom>
          <a:solidFill>
            <a:srgbClr val="C6F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841248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 lang="pl-PL" noProof="1">
                <a:solidFill>
                  <a:srgbClr val="F3F5F0"/>
                </a:solidFill>
                <a:latin typeface="Segoe UI"/>
              </a:rPr>
              <a:t>Diagnoza: „kliknięcie nic nie robi”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932688"/>
            <a:ext cx="2286000" cy="457200"/>
          </a:xfrm>
          <a:prstGeom prst="roundRect">
            <a:avLst>
              <a:gd name="adj" fmla="val 6000"/>
            </a:avLst>
          </a:prstGeom>
          <a:solidFill>
            <a:srgbClr val="16181A"/>
          </a:solidFill>
          <a:ln w="9525">
            <a:solidFill>
              <a:srgbClr val="2A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950976"/>
            <a:ext cx="2286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0" lang="pl-PL" noProof="1">
                <a:solidFill>
                  <a:srgbClr val="9AA09A"/>
                </a:solidFill>
                <a:latin typeface="Consolas"/>
              </a:rPr>
              <a:t>naprawdę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0" lang="pl-PL" noProof="1">
                <a:solidFill>
                  <a:srgbClr val="9AA09A"/>
                </a:solidFill>
                <a:latin typeface="Segoe UI"/>
              </a:rPr>
              <a:t>Po naprawie kompilacji zakładka nadal nie reagowała. Sprawdzenie portów ujawniło przyczynę: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423160"/>
            <a:ext cx="54864" cy="1280160"/>
          </a:xfrm>
          <a:prstGeom prst="rect">
            <a:avLst/>
          </a:prstGeom>
          <a:solidFill>
            <a:srgbClr val="C6F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2423160"/>
            <a:ext cx="10607040" cy="1280160"/>
          </a:xfrm>
          <a:prstGeom prst="roundRect">
            <a:avLst>
              <a:gd name="adj" fmla="val 6000"/>
            </a:avLst>
          </a:prstGeom>
          <a:solidFill>
            <a:srgbClr val="0B0D0E"/>
          </a:solidFill>
          <a:ln w="9525">
            <a:solidFill>
              <a:srgbClr val="2226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532888"/>
            <a:ext cx="1028700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50" lang="pl-PL" noProof="1">
                <a:solidFill>
                  <a:srgbClr val="9BE36B"/>
                </a:solidFill>
                <a:latin typeface="Consolas"/>
              </a:rPr>
              <a:t>frontend :8080  -&gt;  200    // działał</a:t>
            </a:r>
          </a:p>
          <a:p>
            <a:pPr>
              <a:lnSpc>
                <a:spcPct val="115000"/>
              </a:lnSpc>
            </a:pPr>
            <a:r>
              <a:rPr sz="1250" lang="pl-PL" noProof="1">
                <a:solidFill>
                  <a:srgbClr val="FFD24A"/>
                </a:solidFill>
                <a:latin typeface="Consolas"/>
              </a:rPr>
              <a:t>backend  :8081  -&gt;  000    // connection refused — NIE był uruchomiony!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3192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 b="0" lang="pl-PL" noProof="1">
                <a:solidFill>
                  <a:srgbClr val="F3F5F0"/>
                </a:solidFill>
                <a:latin typeface="Segoe UI"/>
              </a:rPr>
              <a:t>Frontend tylko przekazuje żądanie do backendu (port 8081), a ten dopiero rozmawia z Gemini. Bez uruchomionego backendu przycisk „Opisz” zawsze kończył się błędem.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2064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 lang="pl-PL" noProof="1">
                <a:solidFill>
                  <a:srgbClr val="C6FF3D"/>
                </a:solidFill>
                <a:latin typeface="Segoe UI"/>
              </a:rPr>
              <a:t>→ Po uruchomieniu backendu wszystkie 3 endpointy zwracają 200, a zakładki działają end-to-end.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41908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lang="pl-PL" noProof="1">
                <a:solidFill>
                  <a:srgbClr val="9AA09A"/>
                </a:solidFill>
                <a:latin typeface="Consolas"/>
              </a:rPr>
              <a:t>Tab3 · opis zdjęcia przez Gemini   ·   </a:t>
            </a:r>
            <a:r>
              <a:rPr sz="1000" b="1" lang="pl-PL" noProof="1">
                <a:solidFill>
                  <a:srgbClr val="9BC62F"/>
                </a:solidFill>
                <a:latin typeface="Consolas"/>
              </a:rPr>
              <a:t>Opracowała: Ewelina Kasprowicz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411480"/>
            <a:ext cx="118872" cy="118872"/>
          </a:xfrm>
          <a:prstGeom prst="roundRect">
            <a:avLst/>
          </a:prstGeom>
          <a:solidFill>
            <a:srgbClr val="C6F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29184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lang="pl-PL" noProof="1">
                <a:solidFill>
                  <a:srgbClr val="9BC62F"/>
                </a:solidFill>
                <a:latin typeface="Consolas"/>
              </a:rPr>
              <a:t>verify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914400"/>
            <a:ext cx="73152" cy="566928"/>
          </a:xfrm>
          <a:prstGeom prst="rect">
            <a:avLst/>
          </a:prstGeom>
          <a:solidFill>
            <a:srgbClr val="C6F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841248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 lang="pl-PL" noProof="1">
                <a:solidFill>
                  <a:srgbClr val="F3F5F0"/>
                </a:solidFill>
                <a:latin typeface="Segoe UI"/>
              </a:rPr>
              <a:t>Weryfikacja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932688"/>
            <a:ext cx="2286000" cy="457200"/>
          </a:xfrm>
          <a:prstGeom prst="roundRect">
            <a:avLst>
              <a:gd name="adj" fmla="val 6000"/>
            </a:avLst>
          </a:prstGeom>
          <a:solidFill>
            <a:srgbClr val="16181A"/>
          </a:solidFill>
          <a:ln w="9525">
            <a:solidFill>
              <a:srgbClr val="2A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950976"/>
            <a:ext cx="2286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0" lang="pl-PL" noProof="1">
                <a:solidFill>
                  <a:srgbClr val="9AA09A"/>
                </a:solidFill>
                <a:latin typeface="Consolas"/>
              </a:rPr>
              <a:t>że działa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16181A"/>
          </a:solidFill>
          <a:ln w="9525">
            <a:solidFill>
              <a:srgbClr val="2A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196596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 lang="pl-PL" noProof="1">
                <a:solidFill>
                  <a:srgbClr val="C6FF3D"/>
                </a:solidFill>
                <a:latin typeface="Consolas"/>
              </a:rPr>
              <a:t>POST /photo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4231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600" b="1" lang="pl-PL" noProof="1">
                <a:solidFill>
                  <a:srgbClr val="C6FF3D"/>
                </a:solidFill>
                <a:latin typeface="Segoe UI"/>
              </a:rPr>
              <a:t>200 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306324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 lang="pl-PL" noProof="1">
                <a:solidFill>
                  <a:srgbClr val="9AA09A"/>
                </a:solidFill>
                <a:latin typeface="Segoe UI"/>
              </a:rPr>
              <a:t>Tab3 — opis zdjęcia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182880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16181A"/>
          </a:solidFill>
          <a:ln w="9525">
            <a:solidFill>
              <a:srgbClr val="2A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7" y="196596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 lang="pl-PL" noProof="1">
                <a:solidFill>
                  <a:srgbClr val="C6FF3D"/>
                </a:solidFill>
                <a:latin typeface="Consolas"/>
              </a:rPr>
              <a:t>POST /plate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7" y="24231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600" b="1" lang="pl-PL" noProof="1">
                <a:solidFill>
                  <a:srgbClr val="C6FF3D"/>
                </a:solidFill>
                <a:latin typeface="Segoe UI"/>
              </a:rPr>
              <a:t>200 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7" y="306324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 lang="pl-PL" noProof="1">
                <a:solidFill>
                  <a:srgbClr val="9AA09A"/>
                </a:solidFill>
                <a:latin typeface="Segoe UI"/>
              </a:rPr>
              <a:t>Tab2 — tablice rejestracyjne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82880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16181A"/>
          </a:solidFill>
          <a:ln w="9525">
            <a:solidFill>
              <a:srgbClr val="2A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7" y="196596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 lang="pl-PL" noProof="1">
                <a:solidFill>
                  <a:srgbClr val="C6FF3D"/>
                </a:solidFill>
                <a:latin typeface="Consolas"/>
              </a:rPr>
              <a:t>GET /{lang}/{sentence}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7" y="24231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600" b="1" lang="pl-PL" noProof="1">
                <a:solidFill>
                  <a:srgbClr val="C6FF3D"/>
                </a:solidFill>
                <a:latin typeface="Segoe UI"/>
              </a:rPr>
              <a:t>200 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7" y="306324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 lang="pl-PL" noProof="1">
                <a:solidFill>
                  <a:srgbClr val="9AA09A"/>
                </a:solidFill>
                <a:latin typeface="Segoe UI"/>
              </a:rPr>
              <a:t>GrammarCheckTab — gramatyka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977639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lang="pl-PL" noProof="1">
                <a:solidFill>
                  <a:srgbClr val="9AA09A"/>
                </a:solidFill>
                <a:latin typeface="Segoe UI"/>
              </a:rPr>
              <a:t>Obie części budują się przez Maven bez błędów: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526280"/>
            <a:ext cx="54864" cy="1280160"/>
          </a:xfrm>
          <a:prstGeom prst="rect">
            <a:avLst/>
          </a:prstGeom>
          <a:solidFill>
            <a:srgbClr val="C6F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" y="4526280"/>
            <a:ext cx="10607040" cy="1280160"/>
          </a:xfrm>
          <a:prstGeom prst="roundRect">
            <a:avLst>
              <a:gd name="adj" fmla="val 6000"/>
            </a:avLst>
          </a:prstGeom>
          <a:solidFill>
            <a:srgbClr val="0B0D0E"/>
          </a:solidFill>
          <a:ln w="9525">
            <a:solidFill>
              <a:srgbClr val="2226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636008"/>
            <a:ext cx="1028700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50" lang="pl-PL" noProof="1">
                <a:solidFill>
                  <a:srgbClr val="9BE36B"/>
                </a:solidFill>
                <a:latin typeface="Consolas"/>
              </a:rPr>
              <a:t>sh mvnw -pl backend  -am compile    # BUILD SUCCESS</a:t>
            </a:r>
          </a:p>
          <a:p>
            <a:pPr>
              <a:lnSpc>
                <a:spcPct val="115000"/>
              </a:lnSpc>
            </a:pPr>
            <a:r>
              <a:rPr sz="1250" lang="pl-PL" noProof="1">
                <a:solidFill>
                  <a:srgbClr val="9BE36B"/>
                </a:solidFill>
                <a:latin typeface="Consolas"/>
              </a:rPr>
              <a:t>sh mvnw -pl frontend     compile    # BUILD SUCCESS</a:t>
            </a:r>
          </a:p>
          <a:p>
            <a:pPr>
              <a:lnSpc>
                <a:spcPct val="115000"/>
              </a:lnSpc>
            </a:pPr>
            <a:r>
              <a:rPr sz="1250" lang="pl-PL" noProof="1">
                <a:solidFill>
                  <a:srgbClr val="9BE36B"/>
                </a:solidFill>
                <a:latin typeface="Consolas"/>
              </a:rPr>
              <a:t>sh mvnw -pl backend spring-boot:run # start na :8081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41908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lang="pl-PL" noProof="1">
                <a:solidFill>
                  <a:srgbClr val="9AA09A"/>
                </a:solidFill>
                <a:latin typeface="Consolas"/>
              </a:rPr>
              <a:t>Tab3 · opis zdjęcia przez Gemini   ·   </a:t>
            </a:r>
            <a:r>
              <a:rPr sz="1000" b="1" lang="pl-PL" noProof="1">
                <a:solidFill>
                  <a:srgbClr val="9BC62F"/>
                </a:solidFill>
                <a:latin typeface="Consolas"/>
              </a:rPr>
              <a:t>Opracowała: Ewelina Kasprowicz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411480"/>
            <a:ext cx="118872" cy="118872"/>
          </a:xfrm>
          <a:prstGeom prst="roundRect">
            <a:avLst/>
          </a:prstGeom>
          <a:solidFill>
            <a:srgbClr val="C6F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29184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lang="pl-PL" noProof="1">
                <a:solidFill>
                  <a:srgbClr val="9BC62F"/>
                </a:solidFill>
                <a:latin typeface="Consolas"/>
              </a:rPr>
              <a:t>kryteria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914400"/>
            <a:ext cx="73152" cy="566928"/>
          </a:xfrm>
          <a:prstGeom prst="rect">
            <a:avLst/>
          </a:prstGeom>
          <a:solidFill>
            <a:srgbClr val="C6F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841248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 lang="pl-PL" noProof="1">
                <a:solidFill>
                  <a:srgbClr val="F3F5F0"/>
                </a:solidFill>
                <a:latin typeface="Segoe UI"/>
              </a:rPr>
              <a:t>Spełnione kryteria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932688"/>
            <a:ext cx="2286000" cy="457200"/>
          </a:xfrm>
          <a:prstGeom prst="roundRect">
            <a:avLst>
              <a:gd name="adj" fmla="val 6000"/>
            </a:avLst>
          </a:prstGeom>
          <a:solidFill>
            <a:srgbClr val="16181A"/>
          </a:solidFill>
          <a:ln w="9525">
            <a:solidFill>
              <a:srgbClr val="2A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950976"/>
            <a:ext cx="2286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0" lang="pl-PL" noProof="1">
                <a:solidFill>
                  <a:srgbClr val="9AA09A"/>
                </a:solidFill>
                <a:latin typeface="Consolas"/>
              </a:rPr>
              <a:t>wymagania zaliczenia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83080"/>
            <a:ext cx="10607040" cy="1554480"/>
          </a:xfrm>
          <a:prstGeom prst="roundRect">
            <a:avLst>
              <a:gd name="adj" fmla="val 6000"/>
            </a:avLst>
          </a:prstGeom>
          <a:solidFill>
            <a:srgbClr val="16181A"/>
          </a:solidFill>
          <a:ln w="9525">
            <a:solidFill>
              <a:srgbClr val="2A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" y="1947672"/>
            <a:ext cx="868680" cy="777240"/>
          </a:xfrm>
          <a:prstGeom prst="roundRect">
            <a:avLst>
              <a:gd name="adj" fmla="val 6000"/>
            </a:avLst>
          </a:prstGeom>
          <a:solidFill>
            <a:srgbClr val="1F2418"/>
          </a:solidFill>
          <a:ln w="9525">
            <a:solidFill>
              <a:srgbClr val="9BC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929384"/>
            <a:ext cx="868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600" b="1" lang="pl-PL" noProof="1">
                <a:solidFill>
                  <a:srgbClr val="C6FF3D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386584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850" b="0" lang="pl-PL" noProof="1">
                <a:solidFill>
                  <a:srgbClr val="9BC62F"/>
                </a:solidFill>
                <a:latin typeface="Consolas"/>
              </a:rPr>
              <a:t>OCENA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1947672"/>
            <a:ext cx="91440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1" lang="pl-PL" noProof="1">
                <a:solidFill>
                  <a:srgbClr val="C6FF3D"/>
                </a:solidFill>
                <a:latin typeface="Segoe UI"/>
              </a:rPr>
              <a:t>✓  </a:t>
            </a:r>
            <a:r>
              <a:rPr sz="1350" b="1" lang="pl-PL" noProof="1">
                <a:solidFill>
                  <a:srgbClr val="F3F5F0"/>
                </a:solidFill>
                <a:latin typeface="Segoe UI"/>
              </a:rPr>
              <a:t>Część frontendowa aplikacji</a:t>
            </a:r>
            <a:r>
              <a:rPr sz="1350" b="0" lang="pl-PL" noProof="1">
                <a:solidFill>
                  <a:srgbClr val="9AA09A"/>
                </a:solidFill>
                <a:latin typeface="Segoe UI"/>
              </a:rPr>
              <a:t>  →  aplikacja Vaadin z zakładkami (gramatyka, tablice, opis zdjęcia)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1" lang="pl-PL" noProof="1">
                <a:solidFill>
                  <a:srgbClr val="C6FF3D"/>
                </a:solidFill>
                <a:latin typeface="Segoe UI"/>
              </a:rPr>
              <a:t>✓  </a:t>
            </a:r>
            <a:r>
              <a:rPr sz="1350" b="1" lang="pl-PL" noProof="1">
                <a:solidFill>
                  <a:srgbClr val="F3F5F0"/>
                </a:solidFill>
                <a:latin typeface="Segoe UI"/>
              </a:rPr>
              <a:t>Poprawna struktura i czytelny interfejs</a:t>
            </a:r>
            <a:r>
              <a:rPr sz="1350" b="0" lang="pl-PL" noProof="1">
                <a:solidFill>
                  <a:srgbClr val="9AA09A"/>
                </a:solidFill>
                <a:latin typeface="Segoe UI"/>
              </a:rPr>
              <a:t>  →  moduły frontend/backend, pakiety, style CSS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520440"/>
            <a:ext cx="10607040" cy="1554480"/>
          </a:xfrm>
          <a:prstGeom prst="roundRect">
            <a:avLst>
              <a:gd name="adj" fmla="val 6000"/>
            </a:avLst>
          </a:prstGeom>
          <a:solidFill>
            <a:srgbClr val="16181A"/>
          </a:solidFill>
          <a:ln w="9525">
            <a:solidFill>
              <a:srgbClr val="2A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0120" y="3685032"/>
            <a:ext cx="868680" cy="777240"/>
          </a:xfrm>
          <a:prstGeom prst="roundRect">
            <a:avLst>
              <a:gd name="adj" fmla="val 6000"/>
            </a:avLst>
          </a:prstGeom>
          <a:solidFill>
            <a:srgbClr val="1F2418"/>
          </a:solidFill>
          <a:ln w="9525">
            <a:solidFill>
              <a:srgbClr val="9BC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666744"/>
            <a:ext cx="868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600" b="1" lang="pl-PL" noProof="1">
                <a:solidFill>
                  <a:srgbClr val="C6FF3D"/>
                </a:solidFill>
                <a:latin typeface="Segoe U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123944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850" b="0" lang="pl-PL" noProof="1">
                <a:solidFill>
                  <a:srgbClr val="9BC62F"/>
                </a:solidFill>
                <a:latin typeface="Consolas"/>
              </a:rPr>
              <a:t>OCENA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3685032"/>
            <a:ext cx="91440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1" lang="pl-PL" noProof="1">
                <a:solidFill>
                  <a:srgbClr val="C6FF3D"/>
                </a:solidFill>
                <a:latin typeface="Segoe UI"/>
              </a:rPr>
              <a:t>✓  </a:t>
            </a:r>
            <a:r>
              <a:rPr sz="1350" b="1" lang="pl-PL" noProof="1">
                <a:solidFill>
                  <a:srgbClr val="F3F5F0"/>
                </a:solidFill>
                <a:latin typeface="Segoe UI"/>
              </a:rPr>
              <a:t>Backend + co najmniej jeden endpoint API</a:t>
            </a:r>
            <a:r>
              <a:rPr sz="1350" b="0" lang="pl-PL" noProof="1">
                <a:solidFill>
                  <a:srgbClr val="9AA09A"/>
                </a:solidFill>
                <a:latin typeface="Segoe UI"/>
              </a:rPr>
              <a:t>  →  GeminiController: GET oraz POST /photo, /plate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1" lang="pl-PL" noProof="1">
                <a:solidFill>
                  <a:srgbClr val="C6FF3D"/>
                </a:solidFill>
                <a:latin typeface="Segoe UI"/>
              </a:rPr>
              <a:t>✓  </a:t>
            </a:r>
            <a:r>
              <a:rPr sz="1350" b="1" lang="pl-PL" noProof="1">
                <a:solidFill>
                  <a:srgbClr val="F3F5F0"/>
                </a:solidFill>
                <a:latin typeface="Segoe UI"/>
              </a:rPr>
              <a:t>Komunikacja frontend ↔ backend</a:t>
            </a:r>
            <a:r>
              <a:rPr sz="1350" b="0" lang="pl-PL" noProof="1">
                <a:solidFill>
                  <a:srgbClr val="9AA09A"/>
                </a:solidFill>
                <a:latin typeface="Segoe UI"/>
              </a:rPr>
              <a:t>  →  WebService (WebClient) wysyła obraz+tekst, odbiera JSON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257800"/>
            <a:ext cx="10607040" cy="1965960"/>
          </a:xfrm>
          <a:prstGeom prst="roundRect">
            <a:avLst>
              <a:gd name="adj" fmla="val 6000"/>
            </a:avLst>
          </a:prstGeom>
          <a:solidFill>
            <a:srgbClr val="16181A"/>
          </a:solidFill>
          <a:ln w="9525">
            <a:solidFill>
              <a:srgbClr val="2A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0120" y="5422392"/>
            <a:ext cx="868680" cy="777240"/>
          </a:xfrm>
          <a:prstGeom prst="roundRect">
            <a:avLst>
              <a:gd name="adj" fmla="val 6000"/>
            </a:avLst>
          </a:prstGeom>
          <a:solidFill>
            <a:srgbClr val="1F2418"/>
          </a:solidFill>
          <a:ln w="9525">
            <a:solidFill>
              <a:srgbClr val="9BC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404104"/>
            <a:ext cx="868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600" b="1" lang="pl-PL" noProof="1">
                <a:solidFill>
                  <a:srgbClr val="C6FF3D"/>
                </a:solidFill>
                <a:latin typeface="Segoe U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861304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850" b="0" lang="pl-PL" noProof="1">
                <a:solidFill>
                  <a:srgbClr val="9BC62F"/>
                </a:solidFill>
                <a:latin typeface="Consolas"/>
              </a:rPr>
              <a:t>OCENA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5422392"/>
            <a:ext cx="914400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1" lang="pl-PL" noProof="1">
                <a:solidFill>
                  <a:srgbClr val="C6FF3D"/>
                </a:solidFill>
                <a:latin typeface="Segoe UI"/>
              </a:rPr>
              <a:t>✓  </a:t>
            </a:r>
            <a:r>
              <a:rPr sz="1350" b="1" lang="pl-PL" noProof="1">
                <a:solidFill>
                  <a:srgbClr val="F3F5F0"/>
                </a:solidFill>
                <a:latin typeface="Segoe UI"/>
              </a:rPr>
              <a:t>Rozwiązanie wykorzystujące Gemini</a:t>
            </a:r>
            <a:r>
              <a:rPr sz="1350" b="0" lang="pl-PL" noProof="1">
                <a:solidFill>
                  <a:srgbClr val="9AA09A"/>
                </a:solidFill>
                <a:latin typeface="Segoe UI"/>
              </a:rPr>
              <a:t>  →  GeminiService woła Gemini API w 3 funkcjach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1" lang="pl-PL" noProof="1">
                <a:solidFill>
                  <a:srgbClr val="C6FF3D"/>
                </a:solidFill>
                <a:latin typeface="Segoe UI"/>
              </a:rPr>
              <a:t>✓  </a:t>
            </a:r>
            <a:r>
              <a:rPr sz="1350" b="1" lang="pl-PL" noProof="1">
                <a:solidFill>
                  <a:srgbClr val="F3F5F0"/>
                </a:solidFill>
                <a:latin typeface="Segoe UI"/>
              </a:rPr>
              <a:t>Projekt czytelny i możliwy do uruchomienia</a:t>
            </a:r>
            <a:r>
              <a:rPr sz="1350" b="0" lang="pl-PL" noProof="1">
                <a:solidFill>
                  <a:srgbClr val="9AA09A"/>
                </a:solidFill>
                <a:latin typeface="Segoe UI"/>
              </a:rPr>
              <a:t>  →  kompiluje się i działa end-to-end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1" lang="pl-PL" noProof="1">
                <a:solidFill>
                  <a:srgbClr val="C6FF3D"/>
                </a:solidFill>
                <a:latin typeface="Segoe UI"/>
              </a:rPr>
              <a:t>✓  </a:t>
            </a:r>
            <a:r>
              <a:rPr sz="1350" b="1" lang="pl-PL" noProof="1">
                <a:solidFill>
                  <a:srgbClr val="F3F5F0"/>
                </a:solidFill>
                <a:latin typeface="Segoe UI"/>
              </a:rPr>
              <a:t>Dodatkowe funkcjonalności ponad minimum</a:t>
            </a:r>
            <a:r>
              <a:rPr sz="1350" b="0" lang="pl-PL" noProof="1">
                <a:solidFill>
                  <a:srgbClr val="9AA09A"/>
                </a:solidFill>
                <a:latin typeface="Segoe UI"/>
              </a:rPr>
              <a:t>  →  upload plików, podgląd obrazu, wybór języka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41908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lang="pl-PL" noProof="1">
                <a:solidFill>
                  <a:srgbClr val="9AA09A"/>
                </a:solidFill>
                <a:latin typeface="Consolas"/>
              </a:rPr>
              <a:t>Tab3 · opis zdjęcia przez Gemini   ·   </a:t>
            </a:r>
            <a:r>
              <a:rPr sz="1000" b="1" lang="pl-PL" noProof="1">
                <a:solidFill>
                  <a:srgbClr val="9BC62F"/>
                </a:solidFill>
                <a:latin typeface="Consolas"/>
              </a:rPr>
              <a:t>Opracowała: Ewelina Kasprowicz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411480"/>
            <a:ext cx="118872" cy="118872"/>
          </a:xfrm>
          <a:prstGeom prst="roundRect">
            <a:avLst/>
          </a:prstGeom>
          <a:solidFill>
            <a:srgbClr val="C6F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29184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lang="pl-PL" noProof="1">
                <a:solidFill>
                  <a:srgbClr val="9BC62F"/>
                </a:solidFill>
                <a:latin typeface="Consolas"/>
              </a:rPr>
              <a:t>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914400"/>
            <a:ext cx="73152" cy="566928"/>
          </a:xfrm>
          <a:prstGeom prst="rect">
            <a:avLst/>
          </a:prstGeom>
          <a:solidFill>
            <a:srgbClr val="C6F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841248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 lang="pl-PL" noProof="1">
                <a:solidFill>
                  <a:srgbClr val="F3F5F0"/>
                </a:solidFill>
                <a:latin typeface="Segoe UI"/>
              </a:rPr>
              <a:t>Podsumowanie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07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 b="1" lang="pl-PL" noProof="1">
                <a:solidFill>
                  <a:srgbClr val="C6FF3D"/>
                </a:solidFill>
                <a:latin typeface="Segoe UI"/>
              </a:rPr>
              <a:t>▸  </a:t>
            </a:r>
            <a:r>
              <a:rPr sz="1700" b="1" lang="pl-PL" noProof="1">
                <a:solidFill>
                  <a:srgbClr val="C6FF3D"/>
                </a:solidFill>
                <a:latin typeface="Segoe UI"/>
              </a:rPr>
              <a:t>Idea: </a:t>
            </a:r>
            <a:r>
              <a:rPr sz="1700" b="0" lang="pl-PL" noProof="1">
                <a:solidFill>
                  <a:srgbClr val="F3F5F0"/>
                </a:solidFill>
                <a:latin typeface="Segoe UI"/>
              </a:rPr>
              <a:t>opis zdjęcia wg instrukcji użytkownika z użyciem modelu Gemini.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 b="1" lang="pl-PL" noProof="1">
                <a:solidFill>
                  <a:srgbClr val="C6FF3D"/>
                </a:solidFill>
                <a:latin typeface="Segoe UI"/>
              </a:rPr>
              <a:t>▸  </a:t>
            </a:r>
            <a:r>
              <a:rPr sz="1700" b="1" lang="pl-PL" noProof="1">
                <a:solidFill>
                  <a:srgbClr val="C6FF3D"/>
                </a:solidFill>
                <a:latin typeface="Segoe UI"/>
              </a:rPr>
              <a:t>Dodano: </a:t>
            </a:r>
            <a:r>
              <a:rPr sz="1700" b="0" lang="pl-PL" noProof="1">
                <a:solidFill>
                  <a:srgbClr val="F3F5F0"/>
                </a:solidFill>
                <a:latin typeface="Segoe UI"/>
              </a:rPr>
              <a:t>pełną ścieżkę Tab3 (UI + CSS + klient HTTP + endpoint + logika + parser + DTO).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 b="1" lang="pl-PL" noProof="1">
                <a:solidFill>
                  <a:srgbClr val="C6FF3D"/>
                </a:solidFill>
                <a:latin typeface="Segoe UI"/>
              </a:rPr>
              <a:t>▸  </a:t>
            </a:r>
            <a:r>
              <a:rPr sz="1700" b="1" lang="pl-PL" noProof="1">
                <a:solidFill>
                  <a:srgbClr val="C6FF3D"/>
                </a:solidFill>
                <a:latin typeface="Segoe UI"/>
              </a:rPr>
              <a:t>Naprawiono: </a:t>
            </a:r>
            <a:r>
              <a:rPr sz="1700" b="0" lang="pl-PL" noProof="1">
                <a:solidFill>
                  <a:srgbClr val="F3F5F0"/>
                </a:solidFill>
                <a:latin typeface="Segoe UI"/>
              </a:rPr>
              <a:t>kompilację backendu, brakujące endpointy, JSON, wiązanie danych, serializację (406) i widoczność błędów.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 b="1" lang="pl-PL" noProof="1">
                <a:solidFill>
                  <a:srgbClr val="C6FF3D"/>
                </a:solidFill>
                <a:latin typeface="Segoe UI"/>
              </a:rPr>
              <a:t>▸  </a:t>
            </a:r>
            <a:r>
              <a:rPr sz="1700" b="1" lang="pl-PL" noProof="1">
                <a:solidFill>
                  <a:srgbClr val="C6FF3D"/>
                </a:solidFill>
                <a:latin typeface="Segoe UI"/>
              </a:rPr>
              <a:t>Bonus: </a:t>
            </a:r>
            <a:r>
              <a:rPr sz="1700" b="0" lang="pl-PL" noProof="1">
                <a:solidFill>
                  <a:srgbClr val="F3F5F0"/>
                </a:solidFill>
                <a:latin typeface="Segoe UI"/>
              </a:rPr>
              <a:t>przy okazji naprawiona także zakładka Tab2 (tablice).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700" b="1" lang="pl-PL" noProof="1">
                <a:solidFill>
                  <a:srgbClr val="C6FF3D"/>
                </a:solidFill>
                <a:latin typeface="Segoe UI"/>
              </a:rPr>
              <a:t>▸  </a:t>
            </a:r>
            <a:r>
              <a:rPr sz="1700" b="1" lang="pl-PL" noProof="1">
                <a:solidFill>
                  <a:srgbClr val="C6FF3D"/>
                </a:solidFill>
                <a:latin typeface="Segoe UI"/>
              </a:rPr>
              <a:t>Status: </a:t>
            </a:r>
            <a:r>
              <a:rPr sz="1700" b="0" lang="pl-PL" noProof="1">
                <a:solidFill>
                  <a:srgbClr val="F3F5F0"/>
                </a:solidFill>
                <a:latin typeface="Segoe UI"/>
              </a:rPr>
              <a:t>wszystkie 3 funkcje działają end-to-end — kryteria zaliczenia spełnione.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2920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lang="pl-PL" noProof="1">
                <a:solidFill>
                  <a:srgbClr val="9AA09A"/>
                </a:solidFill>
                <a:latin typeface="Segoe UI"/>
              </a:rPr>
              <a:t>Do rozważenia na przyszłość: klucz API w zmiennej środowiskowej zamiast w kodzie.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6692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 lang="pl-PL" noProof="1">
                <a:solidFill>
                  <a:srgbClr val="C6FF3D"/>
                </a:solidFill>
                <a:latin typeface="Segoe UI"/>
              </a:rPr>
              <a:t>Opracowała: </a:t>
            </a:r>
            <a:r>
              <a:rPr sz="1600" b="1" lang="pl-PL" noProof="1">
                <a:solidFill>
                  <a:srgbClr val="F3F5F0"/>
                </a:solidFill>
                <a:latin typeface="Segoe UI"/>
              </a:rPr>
              <a:t>Ewelina Kasprowicz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41908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lang="pl-PL" noProof="1">
                <a:solidFill>
                  <a:srgbClr val="9AA09A"/>
                </a:solidFill>
                <a:latin typeface="Consolas"/>
              </a:rPr>
              <a:t>Tab3 · opis zdjęcia przez Gemini   ·   </a:t>
            </a:r>
            <a:r>
              <a:rPr sz="1000" b="1" lang="pl-PL" noProof="1">
                <a:solidFill>
                  <a:srgbClr val="9BC62F"/>
                </a:solidFill>
                <a:latin typeface="Consolas"/>
              </a:rPr>
              <a:t>Opracowała: Ewelina Kasprowicz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